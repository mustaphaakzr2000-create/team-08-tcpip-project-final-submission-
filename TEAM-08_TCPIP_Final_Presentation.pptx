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7-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I'm Adeoti Suliat Adedamola, Team Lead of TEAM-08, Level 1 Semester 1, FCDF-COHORT-11. Our team traced what happens when a user opens https://x.com, using real packet captures. I'll introduce the scenario, then each member will present their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groups of protocols worked in order: ARP, DNS, TCP, then TLS 1.3 and HTTP/2. Every packet uses three kinds of addressing. MAC addresses identify devices on the local link and change at every hop. IP addresses are end to end and stay the same. Port numbers identify the application: a temporary source port, 51938, to the fixed HTTPS port, 443. Each layer adds its own header: TCP adds ports, IP adds addresses, Ethernet adds MAC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summarises each layer with its protocol, PDU, addressing and purpose. Every row comes from my capture and is linked to a figure in my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day everyone. I'm [your name], registration number [your reg. number], from TEAM-08. My part covers TCP versus UDP, application examples, one communication failure and the troubleshooting procedure.</a:t>
            </a:r>
          </a:p>
          <a:p/>
          <a:p>
            <a:r>
              <a:t>TCP and UDP both work at the Transport layer. TCP is connection-oriented: it does a three-way handshake, acknowledges data, retransmits losses and keeps order, so it has a larger header and more overhead. UDP is connectionless with just an eight-byte header and no guarantees, so it is fast and light.</a:t>
            </a:r>
          </a:p>
          <a:p/>
          <a:p>
            <a:r>
              <a:t>Both appear in my capture of opening x.com. The DNS query went out as one UDP datagram from port 57452 to port 53, length 31 bytes. Then the web session used TCP port 443: SYN, SYN-ACK, ACK and the TLS Client Hello. Wireshark shows about 58 percent of packets were TCP and about 3 percent UDP DNS.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Choose the protocol by what the application can tolerate. TCP suits reliability-first applications: secure web browsing on port 443, email, file transfer and remote access like SSH, because a lost byte can corrupt a file or a command. UDP suits speed-first applications: DNS lookups on port 53, video meetings and VoIP, live streaming and gaming, plus DHCP and NTP. There, a late packet is useless, so skipping it is better than waiting. Our own website visit used both.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failure is a DNS problem. I set the DNS server to 192.0.2.1, an address where nothing answers. The website would not open and the tools reported could not resolve host. In Wireshark the PC keeps repeating DNS queries with no reply. This shows the UDP trade-off: no built-in retransmission, so the application has to retry. The key clue is that pinging 8.8.8.8 still worked, so the network was fine and only name resolution was broken. I also tested port 444: the SYN was retransmitted four times with no answer, which points to a firewall blocking that port.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method is bottom-up. One, record the symptom. Two, ping 8.8.8.8: it works, so the internet layer is fine. Three, nslookup fails, so the fault is name resolution. Four, ipconfig shows the wrong DNS server. Five, Wireshark confirms queries with no replies. Six, reset DNS to the router, flush the cache and verify every layer: the gateway, 8.8.8.8, nslookup, port 443, tracert with eight hops, and curl returning HTTP 200 OK.</a:t>
            </a:r>
          </a:p>
          <a:p/>
          <a:p>
            <a:r>
              <a:t>In summary, TCP gives reliability, UDP gives speed, and a DNS fault can look like a total outage while IP and TCP are healthy. Thank you,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548640" y="914400"/>
            <a:ext cx="8046720" cy="73152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TCP/IP Communication in Action</a:t>
            </a:r>
            <a:endParaRPr lang="en-US" sz="3600" dirty="0"/>
          </a:p>
        </p:txBody>
      </p:sp>
      <p:sp>
        <p:nvSpPr>
          <p:cNvPr id="3" name="Text 1"/>
          <p:cNvSpPr txBox="1"/>
          <p:nvPr/>
        </p:nvSpPr>
        <p:spPr>
          <a:xfrm>
            <a:off x="548640" y="1737360"/>
            <a:ext cx="8046720" cy="457200"/>
          </a:xfrm>
          <a:prstGeom prst="rect">
            <a:avLst/>
          </a:prstGeom>
          <a:noFill/>
          <a:ln/>
        </p:spPr>
        <p:txBody>
          <a:bodyPr wrap="square" lIns="0" tIns="0" rIns="0" bIns="0" rtlCol="0" anchor="t"/>
          <a:lstStyle/>
          <a:p>
            <a:pPr indent="0" marL="0">
              <a:buNone/>
            </a:pPr>
            <a:r>
              <a:rPr lang="en-US" sz="1800" dirty="0">
                <a:solidFill>
                  <a:srgbClr val="BFD8EE"/>
                </a:solidFill>
                <a:latin typeface="Calibri" pitchFamily="34" charset="0"/>
                <a:ea typeface="Calibri" pitchFamily="34" charset="-122"/>
                <a:cs typeface="Calibri" pitchFamily="34" charset="-120"/>
              </a:rPr>
              <a:t>Tracing what happens when a user opens a secure website (https://x.com)</a:t>
            </a:r>
            <a:endParaRPr lang="en-US" sz="1800" dirty="0"/>
          </a:p>
        </p:txBody>
      </p:sp>
      <p:sp>
        <p:nvSpPr>
          <p:cNvPr id="4" name="Text 2"/>
          <p:cNvSpPr txBox="1"/>
          <p:nvPr/>
        </p:nvSpPr>
        <p:spPr>
          <a:xfrm>
            <a:off x="548640" y="2468880"/>
            <a:ext cx="8046720" cy="6400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TEAM-08  |  WADF105  |  FCDF-COHORT-11  |  Level 1, Semester 1</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International Cybersecurity &amp; Digital Forensics Academy (ICDFA)</a:t>
            </a:r>
            <a:endParaRPr lang="en-US" sz="1300" dirty="0"/>
          </a:p>
        </p:txBody>
      </p:sp>
      <p:sp>
        <p:nvSpPr>
          <p:cNvPr id="5" name="Text 3"/>
          <p:cNvSpPr txBox="1"/>
          <p:nvPr/>
        </p:nvSpPr>
        <p:spPr>
          <a:xfrm>
            <a:off x="548640" y="4023360"/>
            <a:ext cx="8046720" cy="457200"/>
          </a:xfrm>
          <a:prstGeom prst="rect">
            <a:avLst/>
          </a:prstGeom>
          <a:noFill/>
          <a:ln/>
        </p:spPr>
        <p:txBody>
          <a:bodyPr wrap="square" lIns="0" tIns="0" rIns="0" bIns="0" rtlCol="0" anchor="t"/>
          <a:lstStyle/>
          <a:p>
            <a:pPr indent="0" marL="0">
              <a:buNone/>
            </a:pPr>
            <a:r>
              <a:rPr lang="en-US" sz="1200" dirty="0">
                <a:solidFill>
                  <a:srgbClr val="BFD8EE"/>
                </a:solidFill>
                <a:latin typeface="Calibri" pitchFamily="34" charset="0"/>
                <a:ea typeface="Calibri" pitchFamily="34" charset="-122"/>
                <a:cs typeface="Calibri" pitchFamily="34" charset="-120"/>
              </a:rPr>
              <a:t>Adeoti Suliat Adedamola (Team Lead)   ·   Eyinade Adegoke   ·   Kenneth Ukata   ·   Mustapha Abubakar   ·   Samina Parveen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6675120" cy="502920"/>
          </a:xfrm>
          <a:prstGeom prst="rect">
            <a:avLst/>
          </a:prstGeom>
          <a:noFill/>
          <a:ln/>
        </p:spPr>
        <p:txBody>
          <a:bodyPr wrap="square" lIns="0" tIns="0" rIns="0" bIns="0" rtlCol="0" anchor="ctr"/>
          <a:lstStyle/>
          <a:p>
            <a:pPr indent="0" marL="0">
              <a:buNone/>
            </a:pPr>
            <a:r>
              <a:rPr lang="en-US" sz="2400" b="1" dirty="0">
                <a:solidFill>
                  <a:srgbClr val="0B2545"/>
                </a:solidFill>
                <a:latin typeface="Calibri" pitchFamily="34" charset="0"/>
                <a:ea typeface="Calibri" pitchFamily="34" charset="-122"/>
                <a:cs typeface="Calibri" pitchFamily="34" charset="-120"/>
              </a:rPr>
              <a:t>Introduction and scenario</a:t>
            </a:r>
            <a:endParaRPr lang="en-US" sz="2400" dirty="0"/>
          </a:p>
        </p:txBody>
      </p:sp>
      <p:sp>
        <p:nvSpPr>
          <p:cNvPr id="3" name="Text 1"/>
          <p:cNvSpPr txBox="1"/>
          <p:nvPr/>
        </p:nvSpPr>
        <p:spPr>
          <a:xfrm>
            <a:off x="6675120" y="274320"/>
            <a:ext cx="2011680" cy="411480"/>
          </a:xfrm>
          <a:prstGeom prst="rect">
            <a:avLst/>
          </a:prstGeom>
          <a:noFill/>
          <a:ln/>
        </p:spPr>
        <p:txBody>
          <a:bodyPr wrap="square" lIns="0" tIns="0" rIns="0" bIns="0" rtlCol="0" anchor="ctr"/>
          <a:lstStyle/>
          <a:p>
            <a:pPr algn="r" indent="0" marL="0">
              <a:buNone/>
            </a:pPr>
            <a:r>
              <a:rPr lang="en-US" sz="1000" dirty="0">
                <a:solidFill>
                  <a:srgbClr val="1D6FA5"/>
                </a:solidFill>
                <a:latin typeface="Calibri" pitchFamily="34" charset="0"/>
                <a:ea typeface="Calibri" pitchFamily="34" charset="-122"/>
                <a:cs typeface="Calibri" pitchFamily="34" charset="-120"/>
              </a:rPr>
              <a:t>Adeoti Suliat Adedamola</a:t>
            </a:r>
            <a:endParaRPr lang="en-US" sz="1000" dirty="0"/>
          </a:p>
        </p:txBody>
      </p:sp>
      <p:sp>
        <p:nvSpPr>
          <p:cNvPr id="4" name="Text 2"/>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800" dirty="0">
                <a:solidFill>
                  <a:srgbClr val="707070"/>
                </a:solidFill>
                <a:latin typeface="Calibri" pitchFamily="34" charset="0"/>
                <a:ea typeface="Calibri" pitchFamily="34" charset="-122"/>
                <a:cs typeface="Calibri" pitchFamily="34" charset="-120"/>
              </a:rPr>
              <a:t>TEAM-08  |  TCP/IP Communication in Action</a:t>
            </a:r>
            <a:endParaRPr lang="en-US" sz="800" dirty="0"/>
          </a:p>
        </p:txBody>
      </p:sp>
      <p:sp>
        <p:nvSpPr>
          <p:cNvPr id="5" name="Text 3"/>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707070"/>
                </a:solidFill>
                <a:latin typeface="Calibri" pitchFamily="34" charset="0"/>
                <a:ea typeface="Calibri" pitchFamily="34" charset="-122"/>
                <a:cs typeface="Calibri" pitchFamily="34" charset="-120"/>
              </a:rPr>
              <a:t>1</a:t>
            </a:r>
            <a:endParaRPr lang="en-US" sz="800" dirty="0"/>
          </a:p>
        </p:txBody>
      </p:sp>
      <p:sp>
        <p:nvSpPr>
          <p:cNvPr id="6" name="Text 4"/>
          <p:cNvSpPr txBox="1"/>
          <p:nvPr/>
        </p:nvSpPr>
        <p:spPr>
          <a:xfrm>
            <a:off x="457200" y="914400"/>
            <a:ext cx="4297680" cy="3657600"/>
          </a:xfrm>
          <a:prstGeom prst="rect">
            <a:avLst/>
          </a:prstGeom>
          <a:noFill/>
          <a:ln/>
        </p:spPr>
        <p:txBody>
          <a:bodyPr wrap="square" lIns="0" tIns="0" rIns="0" bIns="0" rtlCol="0" anchor="t"/>
          <a:lstStyle/>
          <a:p>
            <a:pPr indent="0" marL="0">
              <a:buNone/>
            </a:pPr>
            <a:r>
              <a:rPr lang="en-US" sz="1200" b="1" dirty="0">
                <a:solidFill>
                  <a:srgbClr val="2B2B2B"/>
                </a:solidFill>
                <a:latin typeface="Calibri" pitchFamily="34" charset="0"/>
                <a:ea typeface="Calibri" pitchFamily="34" charset="-122"/>
                <a:cs typeface="Calibri" pitchFamily="34" charset="-120"/>
              </a:rPr>
              <a:t>Scenario: </a:t>
            </a:r>
            <a:pPr indent="0" marL="0">
              <a:buNone/>
            </a:pPr>
            <a:r>
              <a:rPr lang="en-US" sz="1200" dirty="0">
                <a:solidFill>
                  <a:srgbClr val="2B2B2B"/>
                </a:solidFill>
                <a:latin typeface="Calibri" pitchFamily="34" charset="0"/>
                <a:ea typeface="Calibri" pitchFamily="34" charset="-122"/>
                <a:cs typeface="Calibri" pitchFamily="34" charset="-120"/>
              </a:rPr>
              <a:t>opening https://x.com, traced from the sending device to the destination and back.</a:t>
            </a:r>
            <a:endParaRPr lang="en-US" sz="1200" dirty="0"/>
          </a:p>
          <a:p>
            <a:pPr indent="0" marL="0">
              <a:buNone/>
            </a:pPr>
            <a:r>
              <a:rPr lang="en-US" sz="1200" dirty="0">
                <a:solidFill>
                  <a:srgbClr val="2B2B2B"/>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2B2B2B"/>
                </a:solidFill>
                <a:latin typeface="Calibri" pitchFamily="34" charset="0"/>
                <a:ea typeface="Calibri" pitchFamily="34" charset="-122"/>
                <a:cs typeface="Calibri" pitchFamily="34" charset="-120"/>
              </a:rPr>
              <a:t>We cover:</a:t>
            </a:r>
            <a:endParaRPr lang="en-US" sz="1200" dirty="0"/>
          </a:p>
          <a:p>
            <a:pPr marL="342900" indent="-342900">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The four TCP/IP layers and TCP/IP to OSI mapping</a:t>
            </a:r>
            <a:endParaRPr lang="en-US" sz="1200" dirty="0"/>
          </a:p>
          <a:p>
            <a:pPr marL="342900" indent="-342900">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Encapsulation, decapsulation and network devices</a:t>
            </a:r>
            <a:endParaRPr lang="en-US" sz="1200" dirty="0"/>
          </a:p>
          <a:p>
            <a:pPr marL="342900" indent="-342900">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IP addresses, MAC addresses, port numbers and protocols</a:t>
            </a:r>
            <a:endParaRPr lang="en-US" sz="1200" dirty="0"/>
          </a:p>
          <a:p>
            <a:pPr marL="342900" indent="-342900">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TCP vs UDP</a:t>
            </a:r>
            <a:endParaRPr lang="en-US" sz="1200" dirty="0"/>
          </a:p>
          <a:p>
            <a:pPr marL="342900" indent="-342900">
              <a:spcAft>
                <a:spcPts val="400"/>
              </a:spcAft>
              <a:buSzPct val="100000"/>
              <a:buChar char="•"/>
            </a:pPr>
            <a:r>
              <a:rPr lang="en-US" sz="1200" dirty="0">
                <a:solidFill>
                  <a:srgbClr val="2B2B2B"/>
                </a:solidFill>
                <a:latin typeface="Calibri" pitchFamily="34" charset="0"/>
                <a:ea typeface="Calibri" pitchFamily="34" charset="-122"/>
                <a:cs typeface="Calibri" pitchFamily="34" charset="-120"/>
              </a:rPr>
              <a:t>One communication failure and its troubleshooting</a:t>
            </a:r>
            <a:pPr indent="0" marL="0">
              <a:buNone/>
            </a:pPr>
            <a:r>
              <a:rPr lang="en-US" sz="1200" dirty="0">
                <a:solidFill>
                  <a:srgbClr val="2B2B2B"/>
                </a:solidFill>
                <a:latin typeface="Calibri" pitchFamily="34" charset="0"/>
                <a:ea typeface="Calibri" pitchFamily="34" charset="-122"/>
                <a:cs typeface="Calibri" pitchFamily="34" charset="-120"/>
              </a:rPr>
              <a:t> </a:t>
            </a:r>
            <a:endParaRPr lang="en-US" sz="1200" dirty="0"/>
          </a:p>
          <a:p>
            <a:pPr indent="0" marL="0">
              <a:buNone/>
            </a:pPr>
            <a:r>
              <a:rPr lang="en-US" sz="1200" i="1" dirty="0">
                <a:solidFill>
                  <a:srgbClr val="2B2B2B"/>
                </a:solidFill>
                <a:latin typeface="Calibri" pitchFamily="34" charset="0"/>
                <a:ea typeface="Calibri" pitchFamily="34" charset="-122"/>
                <a:cs typeface="Calibri" pitchFamily="34" charset="-120"/>
              </a:rPr>
              <a:t>Evidence comes from real Wireshark captures on our own lab machines. Lab networks differ, so addresses differ, but the protocol behaviour is the same. Each slide names its capture.</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937760" y="914400"/>
          <a:ext cx="3749040" cy="914400"/>
        </p:xfrm>
        <a:graphic>
          <a:graphicData uri="http://schemas.openxmlformats.org/drawingml/2006/table">
            <a:tbl>
              <a:tblPr/>
              <a:tblGrid>
                <a:gridCol w="1737360"/>
                <a:gridCol w="201168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Member</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solidFill>
                      <a:srgbClr val="1D6FA5"/>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Section</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solidFill>
                      <a:srgbClr val="1D6FA5"/>
                    </a:solidFill>
                  </a:tcPr>
                </a:tc>
              </a:tr>
              <a:tr h="0">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Adeoti Suliat Adedamola (Team Lead)</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Introduction, conclusion, coordination</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Eyinade Adegoke</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TCP/IP layers, OSI, mapping</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Kenneth Ukata</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Packet journey, devices, encapsulation and decapsulation</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Mustapha Abubakar</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Protocols, IP/MAC addressing, ports, analysis table</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Samina Parveen</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TCP vs UDP, failure, troubleshooting</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6675120" cy="502920"/>
          </a:xfrm>
          <a:prstGeom prst="rect">
            <a:avLst/>
          </a:prstGeom>
          <a:noFill/>
          <a:ln/>
        </p:spPr>
        <p:txBody>
          <a:bodyPr wrap="square" lIns="0" tIns="0" rIns="0" bIns="0" rtlCol="0" anchor="ctr"/>
          <a:lstStyle/>
          <a:p>
            <a:pPr indent="0" marL="0">
              <a:buNone/>
            </a:pPr>
            <a:r>
              <a:rPr lang="en-US" sz="2400" b="1" dirty="0">
                <a:solidFill>
                  <a:srgbClr val="0B2545"/>
                </a:solidFill>
                <a:latin typeface="Calibri" pitchFamily="34" charset="0"/>
                <a:ea typeface="Calibri" pitchFamily="34" charset="-122"/>
                <a:cs typeface="Calibri" pitchFamily="34" charset="-120"/>
              </a:rPr>
              <a:t>The TCP/IP model: four layers</a:t>
            </a:r>
            <a:endParaRPr lang="en-US" sz="2400" dirty="0"/>
          </a:p>
        </p:txBody>
      </p:sp>
      <p:sp>
        <p:nvSpPr>
          <p:cNvPr id="3" name="Text 1"/>
          <p:cNvSpPr txBox="1"/>
          <p:nvPr/>
        </p:nvSpPr>
        <p:spPr>
          <a:xfrm>
            <a:off x="6675120" y="274320"/>
            <a:ext cx="2011680" cy="411480"/>
          </a:xfrm>
          <a:prstGeom prst="rect">
            <a:avLst/>
          </a:prstGeom>
          <a:noFill/>
          <a:ln/>
        </p:spPr>
        <p:txBody>
          <a:bodyPr wrap="square" lIns="0" tIns="0" rIns="0" bIns="0" rtlCol="0" anchor="ctr"/>
          <a:lstStyle/>
          <a:p>
            <a:pPr algn="r" indent="0" marL="0">
              <a:buNone/>
            </a:pPr>
            <a:r>
              <a:rPr lang="en-US" sz="1000" dirty="0">
                <a:solidFill>
                  <a:srgbClr val="1D6FA5"/>
                </a:solidFill>
                <a:latin typeface="Calibri" pitchFamily="34" charset="0"/>
                <a:ea typeface="Calibri" pitchFamily="34" charset="-122"/>
                <a:cs typeface="Calibri" pitchFamily="34" charset="-120"/>
              </a:rPr>
              <a:t>Eyinade Adegoke</a:t>
            </a:r>
            <a:endParaRPr lang="en-US" sz="1000" dirty="0"/>
          </a:p>
        </p:txBody>
      </p:sp>
      <p:sp>
        <p:nvSpPr>
          <p:cNvPr id="4" name="Text 2"/>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800" dirty="0">
                <a:solidFill>
                  <a:srgbClr val="707070"/>
                </a:solidFill>
                <a:latin typeface="Calibri" pitchFamily="34" charset="0"/>
                <a:ea typeface="Calibri" pitchFamily="34" charset="-122"/>
                <a:cs typeface="Calibri" pitchFamily="34" charset="-120"/>
              </a:rPr>
              <a:t>TEAM-08  |  TCP/IP Communication in Action</a:t>
            </a:r>
            <a:endParaRPr lang="en-US" sz="800" dirty="0"/>
          </a:p>
        </p:txBody>
      </p:sp>
      <p:sp>
        <p:nvSpPr>
          <p:cNvPr id="5" name="Text 3"/>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707070"/>
                </a:solidFill>
                <a:latin typeface="Calibri" pitchFamily="34" charset="0"/>
                <a:ea typeface="Calibri" pitchFamily="34" charset="-122"/>
                <a:cs typeface="Calibri" pitchFamily="34" charset="-120"/>
              </a:rPr>
              <a:t>2</a:t>
            </a:r>
            <a:endParaRPr lang="en-US" sz="800" dirty="0"/>
          </a:p>
        </p:txBody>
      </p:sp>
      <p:sp>
        <p:nvSpPr>
          <p:cNvPr id="6" name="Shape 4"/>
          <p:cNvSpPr/>
          <p:nvPr/>
        </p:nvSpPr>
        <p:spPr>
          <a:xfrm>
            <a:off x="457200" y="914400"/>
            <a:ext cx="8229600" cy="713232"/>
          </a:xfrm>
          <a:prstGeom prst="roundRect">
            <a:avLst>
              <a:gd name="adj" fmla="val 10256"/>
            </a:avLst>
          </a:prstGeom>
          <a:solidFill>
            <a:srgbClr val="EAF2F8"/>
          </a:solidFill>
          <a:ln w="12700">
            <a:solidFill>
              <a:srgbClr val="EAF2F8"/>
            </a:solidFill>
            <a:prstDash val="solid"/>
          </a:ln>
        </p:spPr>
      </p:sp>
      <p:sp>
        <p:nvSpPr>
          <p:cNvPr id="7" name="Shape 5"/>
          <p:cNvSpPr/>
          <p:nvPr/>
        </p:nvSpPr>
        <p:spPr>
          <a:xfrm>
            <a:off x="457200" y="914400"/>
            <a:ext cx="2011680" cy="713232"/>
          </a:xfrm>
          <a:prstGeom prst="roundRect">
            <a:avLst>
              <a:gd name="adj" fmla="val 10256"/>
            </a:avLst>
          </a:prstGeom>
          <a:solidFill>
            <a:srgbClr val="0B2545"/>
          </a:solidFill>
          <a:ln w="12700">
            <a:solidFill>
              <a:srgbClr val="0B2545"/>
            </a:solidFill>
            <a:prstDash val="solid"/>
          </a:ln>
        </p:spPr>
      </p:sp>
      <p:sp>
        <p:nvSpPr>
          <p:cNvPr id="8" name="Text 6"/>
          <p:cNvSpPr txBox="1"/>
          <p:nvPr/>
        </p:nvSpPr>
        <p:spPr>
          <a:xfrm>
            <a:off x="548640" y="914400"/>
            <a:ext cx="1828800"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Application</a:t>
            </a:r>
            <a:endParaRPr lang="en-US" sz="1500" dirty="0"/>
          </a:p>
        </p:txBody>
      </p:sp>
      <p:sp>
        <p:nvSpPr>
          <p:cNvPr id="9" name="Text 7"/>
          <p:cNvSpPr txBox="1"/>
          <p:nvPr/>
        </p:nvSpPr>
        <p:spPr>
          <a:xfrm>
            <a:off x="2651760" y="987552"/>
            <a:ext cx="3657600" cy="566928"/>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Provides network services to applications.</a:t>
            </a:r>
            <a:endParaRPr lang="en-US" sz="1200" dirty="0"/>
          </a:p>
        </p:txBody>
      </p:sp>
      <p:sp>
        <p:nvSpPr>
          <p:cNvPr id="10" name="Text 8"/>
          <p:cNvSpPr txBox="1"/>
          <p:nvPr/>
        </p:nvSpPr>
        <p:spPr>
          <a:xfrm>
            <a:off x="6400800" y="987552"/>
            <a:ext cx="2194560" cy="566928"/>
          </a:xfrm>
          <a:prstGeom prst="rect">
            <a:avLst/>
          </a:prstGeom>
          <a:noFill/>
          <a:ln/>
        </p:spPr>
        <p:txBody>
          <a:bodyPr wrap="square" lIns="0" tIns="0" rIns="0" bIns="0" rtlCol="0" anchor="ctr"/>
          <a:lstStyle/>
          <a:p>
            <a:pPr indent="0" marL="0">
              <a:buNone/>
            </a:pPr>
            <a:r>
              <a:rPr lang="en-US" sz="1100" b="1" dirty="0">
                <a:solidFill>
                  <a:srgbClr val="1D6FA5"/>
                </a:solidFill>
                <a:latin typeface="Calibri" pitchFamily="34" charset="0"/>
                <a:ea typeface="Calibri" pitchFamily="34" charset="-122"/>
                <a:cs typeface="Calibri" pitchFamily="34" charset="-120"/>
              </a:rPr>
              <a:t>Examples: HTTP, FTP, SMTP, DNS</a:t>
            </a:r>
            <a:endParaRPr lang="en-US" sz="1100" dirty="0"/>
          </a:p>
        </p:txBody>
      </p:sp>
      <p:sp>
        <p:nvSpPr>
          <p:cNvPr id="11" name="Shape 9"/>
          <p:cNvSpPr/>
          <p:nvPr/>
        </p:nvSpPr>
        <p:spPr>
          <a:xfrm>
            <a:off x="457200" y="1737360"/>
            <a:ext cx="8229600" cy="713232"/>
          </a:xfrm>
          <a:prstGeom prst="roundRect">
            <a:avLst>
              <a:gd name="adj" fmla="val 10256"/>
            </a:avLst>
          </a:prstGeom>
          <a:solidFill>
            <a:srgbClr val="EAF2F8"/>
          </a:solidFill>
          <a:ln w="12700">
            <a:solidFill>
              <a:srgbClr val="EAF2F8"/>
            </a:solidFill>
            <a:prstDash val="solid"/>
          </a:ln>
        </p:spPr>
      </p:sp>
      <p:sp>
        <p:nvSpPr>
          <p:cNvPr id="12" name="Shape 10"/>
          <p:cNvSpPr/>
          <p:nvPr/>
        </p:nvSpPr>
        <p:spPr>
          <a:xfrm>
            <a:off x="457200" y="1737360"/>
            <a:ext cx="2011680" cy="713232"/>
          </a:xfrm>
          <a:prstGeom prst="roundRect">
            <a:avLst>
              <a:gd name="adj" fmla="val 10256"/>
            </a:avLst>
          </a:prstGeom>
          <a:solidFill>
            <a:srgbClr val="1D6FA5"/>
          </a:solidFill>
          <a:ln w="12700">
            <a:solidFill>
              <a:srgbClr val="1D6FA5"/>
            </a:solidFill>
            <a:prstDash val="solid"/>
          </a:ln>
        </p:spPr>
      </p:sp>
      <p:sp>
        <p:nvSpPr>
          <p:cNvPr id="13" name="Text 11"/>
          <p:cNvSpPr txBox="1"/>
          <p:nvPr/>
        </p:nvSpPr>
        <p:spPr>
          <a:xfrm>
            <a:off x="548640" y="1737360"/>
            <a:ext cx="1828800"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Transport</a:t>
            </a:r>
            <a:endParaRPr lang="en-US" sz="1500" dirty="0"/>
          </a:p>
        </p:txBody>
      </p:sp>
      <p:sp>
        <p:nvSpPr>
          <p:cNvPr id="14" name="Text 12"/>
          <p:cNvSpPr txBox="1"/>
          <p:nvPr/>
        </p:nvSpPr>
        <p:spPr>
          <a:xfrm>
            <a:off x="2651760" y="1810512"/>
            <a:ext cx="3657600" cy="566928"/>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Provides end-to-end communication and reliability.</a:t>
            </a:r>
            <a:endParaRPr lang="en-US" sz="1200" dirty="0"/>
          </a:p>
        </p:txBody>
      </p:sp>
      <p:sp>
        <p:nvSpPr>
          <p:cNvPr id="15" name="Text 13"/>
          <p:cNvSpPr txBox="1"/>
          <p:nvPr/>
        </p:nvSpPr>
        <p:spPr>
          <a:xfrm>
            <a:off x="6400800" y="1810512"/>
            <a:ext cx="2194560" cy="566928"/>
          </a:xfrm>
          <a:prstGeom prst="rect">
            <a:avLst/>
          </a:prstGeom>
          <a:noFill/>
          <a:ln/>
        </p:spPr>
        <p:txBody>
          <a:bodyPr wrap="square" lIns="0" tIns="0" rIns="0" bIns="0" rtlCol="0" anchor="ctr"/>
          <a:lstStyle/>
          <a:p>
            <a:pPr indent="0" marL="0">
              <a:buNone/>
            </a:pPr>
            <a:r>
              <a:rPr lang="en-US" sz="1100" b="1" dirty="0">
                <a:solidFill>
                  <a:srgbClr val="1D6FA5"/>
                </a:solidFill>
                <a:latin typeface="Calibri" pitchFamily="34" charset="0"/>
                <a:ea typeface="Calibri" pitchFamily="34" charset="-122"/>
                <a:cs typeface="Calibri" pitchFamily="34" charset="-120"/>
              </a:rPr>
              <a:t>Examples: TCP, UDP</a:t>
            </a:r>
            <a:endParaRPr lang="en-US" sz="1100" dirty="0"/>
          </a:p>
        </p:txBody>
      </p:sp>
      <p:sp>
        <p:nvSpPr>
          <p:cNvPr id="16" name="Shape 14"/>
          <p:cNvSpPr/>
          <p:nvPr/>
        </p:nvSpPr>
        <p:spPr>
          <a:xfrm>
            <a:off x="457200" y="2560320"/>
            <a:ext cx="8229600" cy="713232"/>
          </a:xfrm>
          <a:prstGeom prst="roundRect">
            <a:avLst>
              <a:gd name="adj" fmla="val 10256"/>
            </a:avLst>
          </a:prstGeom>
          <a:solidFill>
            <a:srgbClr val="EAF2F8"/>
          </a:solidFill>
          <a:ln w="12700">
            <a:solidFill>
              <a:srgbClr val="EAF2F8"/>
            </a:solidFill>
            <a:prstDash val="solid"/>
          </a:ln>
        </p:spPr>
      </p:sp>
      <p:sp>
        <p:nvSpPr>
          <p:cNvPr id="17" name="Shape 15"/>
          <p:cNvSpPr/>
          <p:nvPr/>
        </p:nvSpPr>
        <p:spPr>
          <a:xfrm>
            <a:off x="457200" y="2560320"/>
            <a:ext cx="2011680" cy="713232"/>
          </a:xfrm>
          <a:prstGeom prst="roundRect">
            <a:avLst>
              <a:gd name="adj" fmla="val 10256"/>
            </a:avLst>
          </a:prstGeom>
          <a:solidFill>
            <a:srgbClr val="0B2545"/>
          </a:solidFill>
          <a:ln w="12700">
            <a:solidFill>
              <a:srgbClr val="0B2545"/>
            </a:solidFill>
            <a:prstDash val="solid"/>
          </a:ln>
        </p:spPr>
      </p:sp>
      <p:sp>
        <p:nvSpPr>
          <p:cNvPr id="18" name="Text 16"/>
          <p:cNvSpPr txBox="1"/>
          <p:nvPr/>
        </p:nvSpPr>
        <p:spPr>
          <a:xfrm>
            <a:off x="548640" y="2560320"/>
            <a:ext cx="1828800"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Internet</a:t>
            </a:r>
            <a:endParaRPr lang="en-US" sz="1500" dirty="0"/>
          </a:p>
        </p:txBody>
      </p:sp>
      <p:sp>
        <p:nvSpPr>
          <p:cNvPr id="19" name="Text 17"/>
          <p:cNvSpPr txBox="1"/>
          <p:nvPr/>
        </p:nvSpPr>
        <p:spPr>
          <a:xfrm>
            <a:off x="2651760" y="2633472"/>
            <a:ext cx="3657600" cy="566928"/>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Handles IP addressing and routing of packets.</a:t>
            </a:r>
            <a:endParaRPr lang="en-US" sz="1200" dirty="0"/>
          </a:p>
        </p:txBody>
      </p:sp>
      <p:sp>
        <p:nvSpPr>
          <p:cNvPr id="20" name="Text 18"/>
          <p:cNvSpPr txBox="1"/>
          <p:nvPr/>
        </p:nvSpPr>
        <p:spPr>
          <a:xfrm>
            <a:off x="6400800" y="2633472"/>
            <a:ext cx="2194560" cy="566928"/>
          </a:xfrm>
          <a:prstGeom prst="rect">
            <a:avLst/>
          </a:prstGeom>
          <a:noFill/>
          <a:ln/>
        </p:spPr>
        <p:txBody>
          <a:bodyPr wrap="square" lIns="0" tIns="0" rIns="0" bIns="0" rtlCol="0" anchor="ctr"/>
          <a:lstStyle/>
          <a:p>
            <a:pPr indent="0" marL="0">
              <a:buNone/>
            </a:pPr>
            <a:r>
              <a:rPr lang="en-US" sz="1100" b="1" dirty="0">
                <a:solidFill>
                  <a:srgbClr val="1D6FA5"/>
                </a:solidFill>
                <a:latin typeface="Calibri" pitchFamily="34" charset="0"/>
                <a:ea typeface="Calibri" pitchFamily="34" charset="-122"/>
                <a:cs typeface="Calibri" pitchFamily="34" charset="-120"/>
              </a:rPr>
              <a:t>Examples: IPv4, IPv6, ICMP</a:t>
            </a:r>
            <a:endParaRPr lang="en-US" sz="1100" dirty="0"/>
          </a:p>
        </p:txBody>
      </p:sp>
      <p:sp>
        <p:nvSpPr>
          <p:cNvPr id="21" name="Shape 19"/>
          <p:cNvSpPr/>
          <p:nvPr/>
        </p:nvSpPr>
        <p:spPr>
          <a:xfrm>
            <a:off x="457200" y="3383280"/>
            <a:ext cx="8229600" cy="713232"/>
          </a:xfrm>
          <a:prstGeom prst="roundRect">
            <a:avLst>
              <a:gd name="adj" fmla="val 10256"/>
            </a:avLst>
          </a:prstGeom>
          <a:solidFill>
            <a:srgbClr val="EAF2F8"/>
          </a:solidFill>
          <a:ln w="12700">
            <a:solidFill>
              <a:srgbClr val="EAF2F8"/>
            </a:solidFill>
            <a:prstDash val="solid"/>
          </a:ln>
        </p:spPr>
      </p:sp>
      <p:sp>
        <p:nvSpPr>
          <p:cNvPr id="22" name="Shape 20"/>
          <p:cNvSpPr/>
          <p:nvPr/>
        </p:nvSpPr>
        <p:spPr>
          <a:xfrm>
            <a:off x="457200" y="3383280"/>
            <a:ext cx="2011680" cy="713232"/>
          </a:xfrm>
          <a:prstGeom prst="roundRect">
            <a:avLst>
              <a:gd name="adj" fmla="val 10256"/>
            </a:avLst>
          </a:prstGeom>
          <a:solidFill>
            <a:srgbClr val="1D6FA5"/>
          </a:solidFill>
          <a:ln w="12700">
            <a:solidFill>
              <a:srgbClr val="1D6FA5"/>
            </a:solidFill>
            <a:prstDash val="solid"/>
          </a:ln>
        </p:spPr>
      </p:sp>
      <p:sp>
        <p:nvSpPr>
          <p:cNvPr id="23" name="Text 21"/>
          <p:cNvSpPr txBox="1"/>
          <p:nvPr/>
        </p:nvSpPr>
        <p:spPr>
          <a:xfrm>
            <a:off x="548640" y="3383280"/>
            <a:ext cx="1828800"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Network Access</a:t>
            </a:r>
            <a:endParaRPr lang="en-US" sz="1500" dirty="0"/>
          </a:p>
        </p:txBody>
      </p:sp>
      <p:sp>
        <p:nvSpPr>
          <p:cNvPr id="24" name="Text 22"/>
          <p:cNvSpPr txBox="1"/>
          <p:nvPr/>
        </p:nvSpPr>
        <p:spPr>
          <a:xfrm>
            <a:off x="2651760" y="3456432"/>
            <a:ext cx="3657600" cy="566928"/>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Handles communication over the physical network and hardware.</a:t>
            </a:r>
            <a:endParaRPr lang="en-US" sz="1200" dirty="0"/>
          </a:p>
        </p:txBody>
      </p:sp>
      <p:sp>
        <p:nvSpPr>
          <p:cNvPr id="25" name="Text 23"/>
          <p:cNvSpPr txBox="1"/>
          <p:nvPr/>
        </p:nvSpPr>
        <p:spPr>
          <a:xfrm>
            <a:off x="6400800" y="3456432"/>
            <a:ext cx="2194560" cy="566928"/>
          </a:xfrm>
          <a:prstGeom prst="rect">
            <a:avLst/>
          </a:prstGeom>
          <a:noFill/>
          <a:ln/>
        </p:spPr>
        <p:txBody>
          <a:bodyPr wrap="square" lIns="0" tIns="0" rIns="0" bIns="0" rtlCol="0" anchor="ctr"/>
          <a:lstStyle/>
          <a:p>
            <a:pPr indent="0" marL="0">
              <a:buNone/>
            </a:pPr>
            <a:r>
              <a:rPr lang="en-US" sz="1100" b="1" dirty="0">
                <a:solidFill>
                  <a:srgbClr val="1D6FA5"/>
                </a:solidFill>
                <a:latin typeface="Calibri" pitchFamily="34" charset="0"/>
                <a:ea typeface="Calibri" pitchFamily="34" charset="-122"/>
                <a:cs typeface="Calibri" pitchFamily="34" charset="-120"/>
              </a:rPr>
              <a:t>Examples: Ethernet, Wi-Fi</a:t>
            </a:r>
            <a:endParaRPr lang="en-US" sz="1100" dirty="0"/>
          </a:p>
        </p:txBody>
      </p:sp>
      <p:sp>
        <p:nvSpPr>
          <p:cNvPr id="26" name="Text 24"/>
          <p:cNvSpPr txBox="1"/>
          <p:nvPr/>
        </p:nvSpPr>
        <p:spPr>
          <a:xfrm>
            <a:off x="457200" y="4343400"/>
            <a:ext cx="8229600" cy="320040"/>
          </a:xfrm>
          <a:prstGeom prst="rect">
            <a:avLst/>
          </a:prstGeom>
          <a:noFill/>
          <a:ln/>
        </p:spPr>
        <p:txBody>
          <a:bodyPr wrap="square" lIns="0" tIns="0" rIns="0" bIns="0" rtlCol="0" anchor="t"/>
          <a:lstStyle/>
          <a:p>
            <a:pPr algn="ctr" indent="0" marL="0">
              <a:buNone/>
            </a:pPr>
            <a:r>
              <a:rPr lang="en-US" sz="1300" b="1" dirty="0">
                <a:solidFill>
                  <a:srgbClr val="C8641E"/>
                </a:solidFill>
                <a:latin typeface="Calibri" pitchFamily="34" charset="0"/>
                <a:ea typeface="Calibri" pitchFamily="34" charset="-122"/>
                <a:cs typeface="Calibri" pitchFamily="34" charset="-120"/>
              </a:rPr>
              <a:t>Easy way to describe it: Application → Transport → Internet → Network Access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6675120" cy="502920"/>
          </a:xfrm>
          <a:prstGeom prst="rect">
            <a:avLst/>
          </a:prstGeom>
          <a:noFill/>
          <a:ln/>
        </p:spPr>
        <p:txBody>
          <a:bodyPr wrap="square" lIns="0" tIns="0" rIns="0" bIns="0" rtlCol="0" anchor="ctr"/>
          <a:lstStyle/>
          <a:p>
            <a:pPr indent="0" marL="0">
              <a:buNone/>
            </a:pPr>
            <a:r>
              <a:rPr lang="en-US" sz="2400" b="1" dirty="0">
                <a:solidFill>
                  <a:srgbClr val="0B2545"/>
                </a:solidFill>
                <a:latin typeface="Calibri" pitchFamily="34" charset="0"/>
                <a:ea typeface="Calibri" pitchFamily="34" charset="-122"/>
                <a:cs typeface="Calibri" pitchFamily="34" charset="-120"/>
              </a:rPr>
              <a:t>OSI model and TCP/IP to OSI mapping</a:t>
            </a:r>
            <a:endParaRPr lang="en-US" sz="2400" dirty="0"/>
          </a:p>
        </p:txBody>
      </p:sp>
      <p:sp>
        <p:nvSpPr>
          <p:cNvPr id="3" name="Text 1"/>
          <p:cNvSpPr txBox="1"/>
          <p:nvPr/>
        </p:nvSpPr>
        <p:spPr>
          <a:xfrm>
            <a:off x="6675120" y="274320"/>
            <a:ext cx="2011680" cy="411480"/>
          </a:xfrm>
          <a:prstGeom prst="rect">
            <a:avLst/>
          </a:prstGeom>
          <a:noFill/>
          <a:ln/>
        </p:spPr>
        <p:txBody>
          <a:bodyPr wrap="square" lIns="0" tIns="0" rIns="0" bIns="0" rtlCol="0" anchor="ctr"/>
          <a:lstStyle/>
          <a:p>
            <a:pPr algn="r" indent="0" marL="0">
              <a:buNone/>
            </a:pPr>
            <a:r>
              <a:rPr lang="en-US" sz="1000" dirty="0">
                <a:solidFill>
                  <a:srgbClr val="1D6FA5"/>
                </a:solidFill>
                <a:latin typeface="Calibri" pitchFamily="34" charset="0"/>
                <a:ea typeface="Calibri" pitchFamily="34" charset="-122"/>
                <a:cs typeface="Calibri" pitchFamily="34" charset="-120"/>
              </a:rPr>
              <a:t>Eyinade Adegoke</a:t>
            </a:r>
            <a:endParaRPr lang="en-US" sz="1000" dirty="0"/>
          </a:p>
        </p:txBody>
      </p:sp>
      <p:sp>
        <p:nvSpPr>
          <p:cNvPr id="4" name="Text 2"/>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800" dirty="0">
                <a:solidFill>
                  <a:srgbClr val="707070"/>
                </a:solidFill>
                <a:latin typeface="Calibri" pitchFamily="34" charset="0"/>
                <a:ea typeface="Calibri" pitchFamily="34" charset="-122"/>
                <a:cs typeface="Calibri" pitchFamily="34" charset="-120"/>
              </a:rPr>
              <a:t>TEAM-08  |  TCP/IP Communication in Action</a:t>
            </a:r>
            <a:endParaRPr lang="en-US" sz="800" dirty="0"/>
          </a:p>
        </p:txBody>
      </p:sp>
      <p:sp>
        <p:nvSpPr>
          <p:cNvPr id="5" name="Text 3"/>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707070"/>
                </a:solidFill>
                <a:latin typeface="Calibri" pitchFamily="34" charset="0"/>
                <a:ea typeface="Calibri" pitchFamily="34" charset="-122"/>
                <a:cs typeface="Calibri" pitchFamily="34" charset="-120"/>
              </a:rPr>
              <a:t>3</a:t>
            </a:r>
            <a:endParaRPr lang="en-US" sz="800" dirty="0"/>
          </a:p>
        </p:txBody>
      </p:sp>
      <p:sp>
        <p:nvSpPr>
          <p:cNvPr id="6" name="Text 4"/>
          <p:cNvSpPr txBox="1"/>
          <p:nvPr/>
        </p:nvSpPr>
        <p:spPr>
          <a:xfrm>
            <a:off x="457200" y="822960"/>
            <a:ext cx="8229600" cy="411480"/>
          </a:xfrm>
          <a:prstGeom prst="rect">
            <a:avLst/>
          </a:prstGeom>
          <a:noFill/>
          <a:ln/>
        </p:spPr>
        <p:txBody>
          <a:bodyPr wrap="square" lIns="0" tIns="0" rIns="0" bIns="0" rtlCol="0" anchor="t"/>
          <a:lstStyle/>
          <a:p>
            <a:pPr indent="0" marL="0">
              <a:buNone/>
            </a:pPr>
            <a:r>
              <a:rPr lang="en-US" sz="1100" i="1" dirty="0">
                <a:solidFill>
                  <a:srgbClr val="2B2B2B"/>
                </a:solidFill>
                <a:latin typeface="Calibri" pitchFamily="34" charset="0"/>
                <a:ea typeface="Calibri" pitchFamily="34" charset="-122"/>
                <a:cs typeface="Calibri" pitchFamily="34" charset="-120"/>
              </a:rPr>
              <a:t>The OSI (Open Systems Interconnection) Model is a 7-layer framework that standardizes how data moves between computers over a network.</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120640" cy="914400"/>
        </p:xfrm>
        <a:graphic>
          <a:graphicData uri="http://schemas.openxmlformats.org/drawingml/2006/table">
            <a:tbl>
              <a:tblPr/>
              <a:tblGrid>
                <a:gridCol w="274320"/>
                <a:gridCol w="868680"/>
                <a:gridCol w="2651760"/>
                <a:gridCol w="1325880"/>
              </a:tblGrid>
              <a:tr h="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solidFill>
                      <a:srgbClr val="1D6FA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Layer</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solidFill>
                      <a:srgbClr val="1D6FA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Simple explanation</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solidFill>
                      <a:srgbClr val="1D6FA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Examples</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solidFill>
                      <a:srgbClr val="1D6FA5"/>
                    </a:solidFill>
                  </a:tcPr>
                </a:tc>
              </a:tr>
              <a:tr h="0">
                <a:tc>
                  <a:txBody>
                    <a:bodyPr/>
                    <a:lstStyle/>
                    <a:p>
                      <a:pPr indent="0" marL="0">
                        <a:buNone/>
                      </a:pPr>
                      <a:r>
                        <a:rPr lang="en-US" sz="900" b="1" dirty="0">
                          <a:solidFill>
                            <a:srgbClr val="2B2B2B"/>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900" b="1" dirty="0">
                          <a:solidFill>
                            <a:srgbClr val="2B2B2B"/>
                          </a:solidFill>
                          <a:latin typeface="Calibri" pitchFamily="34" charset="0"/>
                          <a:ea typeface="Calibri" pitchFamily="34" charset="-122"/>
                          <a:cs typeface="Calibri" pitchFamily="34" charset="-120"/>
                        </a:rPr>
                        <a:t>Application</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Provides network services directly to users/applications</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HTTP, FTP, SMTP, DNS</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900" b="1" dirty="0">
                          <a:solidFill>
                            <a:srgbClr val="2B2B2B"/>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900" b="1" dirty="0">
                          <a:solidFill>
                            <a:srgbClr val="2B2B2B"/>
                          </a:solidFill>
                          <a:latin typeface="Calibri" pitchFamily="34" charset="0"/>
                          <a:ea typeface="Calibri" pitchFamily="34" charset="-122"/>
                          <a:cs typeface="Calibri" pitchFamily="34" charset="-120"/>
                        </a:rPr>
                        <a:t>Presentation</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Translates, encrypts, decrypts, and compresses data</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JPEG, SSL/TLS, ASCII</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900" b="1" dirty="0">
                          <a:solidFill>
                            <a:srgbClr val="2B2B2B"/>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900" b="1" dirty="0">
                          <a:solidFill>
                            <a:srgbClr val="2B2B2B"/>
                          </a:solidFill>
                          <a:latin typeface="Calibri" pitchFamily="34" charset="0"/>
                          <a:ea typeface="Calibri" pitchFamily="34" charset="-122"/>
                          <a:cs typeface="Calibri" pitchFamily="34" charset="-120"/>
                        </a:rPr>
                        <a:t>Session</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Establishes, manages, and terminates communication sessions</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Session management</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900" b="1" dirty="0">
                          <a:solidFill>
                            <a:srgbClr val="2B2B2B"/>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900" b="1" dirty="0">
                          <a:solidFill>
                            <a:srgbClr val="2B2B2B"/>
                          </a:solidFill>
                          <a:latin typeface="Calibri" pitchFamily="34" charset="0"/>
                          <a:ea typeface="Calibri" pitchFamily="34" charset="-122"/>
                          <a:cs typeface="Calibri" pitchFamily="34" charset="-120"/>
                        </a:rPr>
                        <a:t>Transport</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Provides reliable data delivery and controls data flow</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TCP, UDP</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900" b="1" dirty="0">
                          <a:solidFill>
                            <a:srgbClr val="2B2B2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900" b="1" dirty="0">
                          <a:solidFill>
                            <a:srgbClr val="2B2B2B"/>
                          </a:solidFill>
                          <a:latin typeface="Calibri" pitchFamily="34" charset="0"/>
                          <a:ea typeface="Calibri" pitchFamily="34" charset="-122"/>
                          <a:cs typeface="Calibri" pitchFamily="34" charset="-120"/>
                        </a:rPr>
                        <a:t>Network</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Handles logical addressing and routing</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IP, routers</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900" b="1" dirty="0">
                          <a:solidFill>
                            <a:srgbClr val="2B2B2B"/>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900" b="1" dirty="0">
                          <a:solidFill>
                            <a:srgbClr val="2B2B2B"/>
                          </a:solidFill>
                          <a:latin typeface="Calibri" pitchFamily="34" charset="0"/>
                          <a:ea typeface="Calibri" pitchFamily="34" charset="-122"/>
                          <a:cs typeface="Calibri" pitchFamily="34" charset="-120"/>
                        </a:rPr>
                        <a:t>Data Link</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Handles frames, MAC addresses, and local network delivery</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Ethernet, switches</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900" b="1" dirty="0">
                          <a:solidFill>
                            <a:srgbClr val="2B2B2B"/>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900" b="1" dirty="0">
                          <a:solidFill>
                            <a:srgbClr val="2B2B2B"/>
                          </a:solidFill>
                          <a:latin typeface="Calibri" pitchFamily="34" charset="0"/>
                          <a:ea typeface="Calibri" pitchFamily="34" charset="-122"/>
                          <a:cs typeface="Calibri" pitchFamily="34" charset="-120"/>
                        </a:rPr>
                        <a:t>Physical</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Transmits raw bits through cables, radio, or other physical media</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Cables, fiber, radio</a:t>
                      </a:r>
                      <a:endParaRPr lang="en-US" sz="9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bl>
          </a:graphicData>
        </a:graphic>
      </p:graphicFrame>
      <p:sp>
        <p:nvSpPr>
          <p:cNvPr id="8" name="Text 5"/>
          <p:cNvSpPr txBox="1"/>
          <p:nvPr/>
        </p:nvSpPr>
        <p:spPr>
          <a:xfrm>
            <a:off x="5852160" y="1280160"/>
            <a:ext cx="2834640" cy="274320"/>
          </a:xfrm>
          <a:prstGeom prst="rect">
            <a:avLst/>
          </a:prstGeom>
          <a:noFill/>
          <a:ln/>
        </p:spPr>
        <p:txBody>
          <a:bodyPr wrap="square" lIns="0" tIns="0" rIns="0" bIns="0" rtlCol="0" anchor="t"/>
          <a:lstStyle/>
          <a:p>
            <a:pPr indent="0" marL="0">
              <a:buNone/>
            </a:pPr>
            <a:r>
              <a:rPr lang="en-US" sz="1300" b="1" dirty="0">
                <a:solidFill>
                  <a:srgbClr val="0B2545"/>
                </a:solidFill>
                <a:latin typeface="Calibri" pitchFamily="34" charset="0"/>
                <a:ea typeface="Calibri" pitchFamily="34" charset="-122"/>
                <a:cs typeface="Calibri" pitchFamily="34" charset="-120"/>
              </a:rPr>
              <a:t>Easy mapping</a:t>
            </a:r>
            <a:endParaRPr lang="en-US" sz="1300" dirty="0"/>
          </a:p>
        </p:txBody>
      </p:sp>
      <p:sp>
        <p:nvSpPr>
          <p:cNvPr id="9" name="Shape 6"/>
          <p:cNvSpPr/>
          <p:nvPr/>
        </p:nvSpPr>
        <p:spPr>
          <a:xfrm>
            <a:off x="5852160" y="1645920"/>
            <a:ext cx="2834640" cy="566928"/>
          </a:xfrm>
          <a:prstGeom prst="roundRect">
            <a:avLst>
              <a:gd name="adj" fmla="val 12903"/>
            </a:avLst>
          </a:prstGeom>
          <a:solidFill>
            <a:srgbClr val="EAF2F8"/>
          </a:solidFill>
          <a:ln w="12700">
            <a:solidFill>
              <a:srgbClr val="EAF2F8"/>
            </a:solidFill>
            <a:prstDash val="solid"/>
          </a:ln>
        </p:spPr>
      </p:sp>
      <p:sp>
        <p:nvSpPr>
          <p:cNvPr id="10" name="Text 7"/>
          <p:cNvSpPr txBox="1"/>
          <p:nvPr/>
        </p:nvSpPr>
        <p:spPr>
          <a:xfrm>
            <a:off x="5943600" y="1645920"/>
            <a:ext cx="2651760" cy="566928"/>
          </a:xfrm>
          <a:prstGeom prst="rect">
            <a:avLst/>
          </a:prstGeom>
          <a:noFill/>
          <a:ln/>
        </p:spPr>
        <p:txBody>
          <a:bodyPr wrap="square" lIns="0" tIns="0" rIns="0" bIns="0" rtlCol="0" anchor="ctr"/>
          <a:lstStyle/>
          <a:p>
            <a:pPr indent="0" marL="0">
              <a:buNone/>
            </a:pPr>
            <a:r>
              <a:rPr lang="en-US" sz="1000" b="1" dirty="0">
                <a:solidFill>
                  <a:srgbClr val="1D6FA5"/>
                </a:solidFill>
                <a:latin typeface="Calibri" pitchFamily="34" charset="0"/>
                <a:ea typeface="Calibri" pitchFamily="34" charset="-122"/>
                <a:cs typeface="Calibri" pitchFamily="34" charset="-120"/>
              </a:rPr>
              <a:t>TCP/IP Application</a:t>
            </a:r>
            <a:endParaRPr lang="en-US" sz="1000" dirty="0"/>
          </a:p>
          <a:p>
            <a:pPr indent="0" marL="0">
              <a:buNone/>
            </a:pPr>
            <a:r>
              <a:rPr lang="en-US" sz="1000" dirty="0">
                <a:solidFill>
                  <a:srgbClr val="2B2B2B"/>
                </a:solidFill>
                <a:latin typeface="Calibri" pitchFamily="34" charset="0"/>
                <a:ea typeface="Calibri" pitchFamily="34" charset="-122"/>
                <a:cs typeface="Calibri" pitchFamily="34" charset="-120"/>
              </a:rPr>
              <a:t>→ OSI Application + Presentation + Session</a:t>
            </a:r>
            <a:endParaRPr lang="en-US" sz="1000" dirty="0"/>
          </a:p>
        </p:txBody>
      </p:sp>
      <p:sp>
        <p:nvSpPr>
          <p:cNvPr id="11" name="Shape 8"/>
          <p:cNvSpPr/>
          <p:nvPr/>
        </p:nvSpPr>
        <p:spPr>
          <a:xfrm>
            <a:off x="5852160" y="2304288"/>
            <a:ext cx="2834640" cy="566928"/>
          </a:xfrm>
          <a:prstGeom prst="roundRect">
            <a:avLst>
              <a:gd name="adj" fmla="val 12903"/>
            </a:avLst>
          </a:prstGeom>
          <a:solidFill>
            <a:srgbClr val="EAF2F8"/>
          </a:solidFill>
          <a:ln w="12700">
            <a:solidFill>
              <a:srgbClr val="EAF2F8"/>
            </a:solidFill>
            <a:prstDash val="solid"/>
          </a:ln>
        </p:spPr>
      </p:sp>
      <p:sp>
        <p:nvSpPr>
          <p:cNvPr id="12" name="Text 9"/>
          <p:cNvSpPr txBox="1"/>
          <p:nvPr/>
        </p:nvSpPr>
        <p:spPr>
          <a:xfrm>
            <a:off x="5943600" y="2304288"/>
            <a:ext cx="2651760" cy="566928"/>
          </a:xfrm>
          <a:prstGeom prst="rect">
            <a:avLst/>
          </a:prstGeom>
          <a:noFill/>
          <a:ln/>
        </p:spPr>
        <p:txBody>
          <a:bodyPr wrap="square" lIns="0" tIns="0" rIns="0" bIns="0" rtlCol="0" anchor="ctr"/>
          <a:lstStyle/>
          <a:p>
            <a:pPr indent="0" marL="0">
              <a:buNone/>
            </a:pPr>
            <a:r>
              <a:rPr lang="en-US" sz="1000" b="1" dirty="0">
                <a:solidFill>
                  <a:srgbClr val="1D6FA5"/>
                </a:solidFill>
                <a:latin typeface="Calibri" pitchFamily="34" charset="0"/>
                <a:ea typeface="Calibri" pitchFamily="34" charset="-122"/>
                <a:cs typeface="Calibri" pitchFamily="34" charset="-120"/>
              </a:rPr>
              <a:t>TCP/IP Transport</a:t>
            </a:r>
            <a:endParaRPr lang="en-US" sz="1000" dirty="0"/>
          </a:p>
          <a:p>
            <a:pPr indent="0" marL="0">
              <a:buNone/>
            </a:pPr>
            <a:r>
              <a:rPr lang="en-US" sz="1000" dirty="0">
                <a:solidFill>
                  <a:srgbClr val="2B2B2B"/>
                </a:solidFill>
                <a:latin typeface="Calibri" pitchFamily="34" charset="0"/>
                <a:ea typeface="Calibri" pitchFamily="34" charset="-122"/>
                <a:cs typeface="Calibri" pitchFamily="34" charset="-120"/>
              </a:rPr>
              <a:t>→ OSI Transport</a:t>
            </a:r>
            <a:endParaRPr lang="en-US" sz="1000" dirty="0"/>
          </a:p>
        </p:txBody>
      </p:sp>
      <p:sp>
        <p:nvSpPr>
          <p:cNvPr id="13" name="Shape 10"/>
          <p:cNvSpPr/>
          <p:nvPr/>
        </p:nvSpPr>
        <p:spPr>
          <a:xfrm>
            <a:off x="5852160" y="2962656"/>
            <a:ext cx="2834640" cy="566928"/>
          </a:xfrm>
          <a:prstGeom prst="roundRect">
            <a:avLst>
              <a:gd name="adj" fmla="val 12903"/>
            </a:avLst>
          </a:prstGeom>
          <a:solidFill>
            <a:srgbClr val="EAF2F8"/>
          </a:solidFill>
          <a:ln w="12700">
            <a:solidFill>
              <a:srgbClr val="EAF2F8"/>
            </a:solidFill>
            <a:prstDash val="solid"/>
          </a:ln>
        </p:spPr>
      </p:sp>
      <p:sp>
        <p:nvSpPr>
          <p:cNvPr id="14" name="Text 11"/>
          <p:cNvSpPr txBox="1"/>
          <p:nvPr/>
        </p:nvSpPr>
        <p:spPr>
          <a:xfrm>
            <a:off x="5943600" y="2962656"/>
            <a:ext cx="2651760" cy="566928"/>
          </a:xfrm>
          <a:prstGeom prst="rect">
            <a:avLst/>
          </a:prstGeom>
          <a:noFill/>
          <a:ln/>
        </p:spPr>
        <p:txBody>
          <a:bodyPr wrap="square" lIns="0" tIns="0" rIns="0" bIns="0" rtlCol="0" anchor="ctr"/>
          <a:lstStyle/>
          <a:p>
            <a:pPr indent="0" marL="0">
              <a:buNone/>
            </a:pPr>
            <a:r>
              <a:rPr lang="en-US" sz="1000" b="1" dirty="0">
                <a:solidFill>
                  <a:srgbClr val="1D6FA5"/>
                </a:solidFill>
                <a:latin typeface="Calibri" pitchFamily="34" charset="0"/>
                <a:ea typeface="Calibri" pitchFamily="34" charset="-122"/>
                <a:cs typeface="Calibri" pitchFamily="34" charset="-120"/>
              </a:rPr>
              <a:t>TCP/IP Internet</a:t>
            </a:r>
            <a:endParaRPr lang="en-US" sz="1000" dirty="0"/>
          </a:p>
          <a:p>
            <a:pPr indent="0" marL="0">
              <a:buNone/>
            </a:pPr>
            <a:r>
              <a:rPr lang="en-US" sz="1000" dirty="0">
                <a:solidFill>
                  <a:srgbClr val="2B2B2B"/>
                </a:solidFill>
                <a:latin typeface="Calibri" pitchFamily="34" charset="0"/>
                <a:ea typeface="Calibri" pitchFamily="34" charset="-122"/>
                <a:cs typeface="Calibri" pitchFamily="34" charset="-120"/>
              </a:rPr>
              <a:t>→ OSI Network</a:t>
            </a:r>
            <a:endParaRPr lang="en-US" sz="1000" dirty="0"/>
          </a:p>
        </p:txBody>
      </p:sp>
      <p:sp>
        <p:nvSpPr>
          <p:cNvPr id="15" name="Shape 12"/>
          <p:cNvSpPr/>
          <p:nvPr/>
        </p:nvSpPr>
        <p:spPr>
          <a:xfrm>
            <a:off x="5852160" y="3621024"/>
            <a:ext cx="2834640" cy="566928"/>
          </a:xfrm>
          <a:prstGeom prst="roundRect">
            <a:avLst>
              <a:gd name="adj" fmla="val 12903"/>
            </a:avLst>
          </a:prstGeom>
          <a:solidFill>
            <a:srgbClr val="EAF2F8"/>
          </a:solidFill>
          <a:ln w="12700">
            <a:solidFill>
              <a:srgbClr val="EAF2F8"/>
            </a:solidFill>
            <a:prstDash val="solid"/>
          </a:ln>
        </p:spPr>
      </p:sp>
      <p:sp>
        <p:nvSpPr>
          <p:cNvPr id="16" name="Text 13"/>
          <p:cNvSpPr txBox="1"/>
          <p:nvPr/>
        </p:nvSpPr>
        <p:spPr>
          <a:xfrm>
            <a:off x="5943600" y="3621024"/>
            <a:ext cx="2651760" cy="566928"/>
          </a:xfrm>
          <a:prstGeom prst="rect">
            <a:avLst/>
          </a:prstGeom>
          <a:noFill/>
          <a:ln/>
        </p:spPr>
        <p:txBody>
          <a:bodyPr wrap="square" lIns="0" tIns="0" rIns="0" bIns="0" rtlCol="0" anchor="ctr"/>
          <a:lstStyle/>
          <a:p>
            <a:pPr indent="0" marL="0">
              <a:buNone/>
            </a:pPr>
            <a:r>
              <a:rPr lang="en-US" sz="1000" b="1" dirty="0">
                <a:solidFill>
                  <a:srgbClr val="1D6FA5"/>
                </a:solidFill>
                <a:latin typeface="Calibri" pitchFamily="34" charset="0"/>
                <a:ea typeface="Calibri" pitchFamily="34" charset="-122"/>
                <a:cs typeface="Calibri" pitchFamily="34" charset="-120"/>
              </a:rPr>
              <a:t>TCP/IP Network Access</a:t>
            </a:r>
            <a:endParaRPr lang="en-US" sz="1000" dirty="0"/>
          </a:p>
          <a:p>
            <a:pPr indent="0" marL="0">
              <a:buNone/>
            </a:pPr>
            <a:r>
              <a:rPr lang="en-US" sz="1000" dirty="0">
                <a:solidFill>
                  <a:srgbClr val="2B2B2B"/>
                </a:solidFill>
                <a:latin typeface="Calibri" pitchFamily="34" charset="0"/>
                <a:ea typeface="Calibri" pitchFamily="34" charset="-122"/>
                <a:cs typeface="Calibri" pitchFamily="34" charset="-120"/>
              </a:rPr>
              <a:t>→ OSI Data Link + Physical</a:t>
            </a:r>
            <a:endParaRPr lang="en-US" sz="1000" dirty="0"/>
          </a:p>
        </p:txBody>
      </p:sp>
      <p:sp>
        <p:nvSpPr>
          <p:cNvPr id="17" name="Text 14"/>
          <p:cNvSpPr txBox="1"/>
          <p:nvPr/>
        </p:nvSpPr>
        <p:spPr>
          <a:xfrm>
            <a:off x="5852160" y="4343400"/>
            <a:ext cx="2834640" cy="457200"/>
          </a:xfrm>
          <a:prstGeom prst="rect">
            <a:avLst/>
          </a:prstGeom>
          <a:noFill/>
          <a:ln/>
        </p:spPr>
        <p:txBody>
          <a:bodyPr wrap="square" lIns="0" tIns="0" rIns="0" bIns="0" rtlCol="0" anchor="t"/>
          <a:lstStyle/>
          <a:p>
            <a:pPr indent="0" marL="0">
              <a:buNone/>
            </a:pPr>
            <a:r>
              <a:rPr lang="en-US" sz="900" i="1" dirty="0">
                <a:solidFill>
                  <a:srgbClr val="2B2B2B"/>
                </a:solidFill>
                <a:latin typeface="Calibri" pitchFamily="34" charset="0"/>
                <a:ea typeface="Calibri" pitchFamily="34" charset="-122"/>
                <a:cs typeface="Calibri" pitchFamily="34" charset="-120"/>
              </a:rPr>
              <a:t>Key point: The TCP/IP model combines some of the OSI layers, making it a simpler practical model for understanding Internet communication.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6675120" cy="502920"/>
          </a:xfrm>
          <a:prstGeom prst="rect">
            <a:avLst/>
          </a:prstGeom>
          <a:noFill/>
          <a:ln/>
        </p:spPr>
        <p:txBody>
          <a:bodyPr wrap="square" lIns="0" tIns="0" rIns="0" bIns="0" rtlCol="0" anchor="ctr"/>
          <a:lstStyle/>
          <a:p>
            <a:pPr indent="0" marL="0">
              <a:buNone/>
            </a:pPr>
            <a:r>
              <a:rPr lang="en-US" sz="2400" b="1" dirty="0">
                <a:solidFill>
                  <a:srgbClr val="0B2545"/>
                </a:solidFill>
                <a:latin typeface="Calibri" pitchFamily="34" charset="0"/>
                <a:ea typeface="Calibri" pitchFamily="34" charset="-122"/>
                <a:cs typeface="Calibri" pitchFamily="34" charset="-120"/>
              </a:rPr>
              <a:t>Packet journey: encapsulation and decapsulation</a:t>
            </a:r>
            <a:endParaRPr lang="en-US" sz="2400" dirty="0"/>
          </a:p>
        </p:txBody>
      </p:sp>
      <p:sp>
        <p:nvSpPr>
          <p:cNvPr id="3" name="Text 1"/>
          <p:cNvSpPr txBox="1"/>
          <p:nvPr/>
        </p:nvSpPr>
        <p:spPr>
          <a:xfrm>
            <a:off x="6675120" y="274320"/>
            <a:ext cx="2011680" cy="411480"/>
          </a:xfrm>
          <a:prstGeom prst="rect">
            <a:avLst/>
          </a:prstGeom>
          <a:noFill/>
          <a:ln/>
        </p:spPr>
        <p:txBody>
          <a:bodyPr wrap="square" lIns="0" tIns="0" rIns="0" bIns="0" rtlCol="0" anchor="ctr"/>
          <a:lstStyle/>
          <a:p>
            <a:pPr algn="r" indent="0" marL="0">
              <a:buNone/>
            </a:pPr>
            <a:r>
              <a:rPr lang="en-US" sz="1000" dirty="0">
                <a:solidFill>
                  <a:srgbClr val="1D6FA5"/>
                </a:solidFill>
                <a:latin typeface="Calibri" pitchFamily="34" charset="0"/>
                <a:ea typeface="Calibri" pitchFamily="34" charset="-122"/>
                <a:cs typeface="Calibri" pitchFamily="34" charset="-120"/>
              </a:rPr>
              <a:t>Kenneth Ukata</a:t>
            </a:r>
            <a:endParaRPr lang="en-US" sz="1000" dirty="0"/>
          </a:p>
        </p:txBody>
      </p:sp>
      <p:sp>
        <p:nvSpPr>
          <p:cNvPr id="4" name="Text 2"/>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800" dirty="0">
                <a:solidFill>
                  <a:srgbClr val="707070"/>
                </a:solidFill>
                <a:latin typeface="Calibri" pitchFamily="34" charset="0"/>
                <a:ea typeface="Calibri" pitchFamily="34" charset="-122"/>
                <a:cs typeface="Calibri" pitchFamily="34" charset="-120"/>
              </a:rPr>
              <a:t>TEAM-08  |  TCP/IP Communication in Action   |   Evidence: Kenneth's capture (opening https://x.com)</a:t>
            </a:r>
            <a:endParaRPr lang="en-US" sz="800" dirty="0"/>
          </a:p>
        </p:txBody>
      </p:sp>
      <p:sp>
        <p:nvSpPr>
          <p:cNvPr id="5" name="Text 3"/>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707070"/>
                </a:solidFill>
                <a:latin typeface="Calibri" pitchFamily="34" charset="0"/>
                <a:ea typeface="Calibri" pitchFamily="34" charset="-122"/>
                <a:cs typeface="Calibri" pitchFamily="34" charset="-120"/>
              </a:rPr>
              <a:t>4</a:t>
            </a:r>
            <a:endParaRPr lang="en-US" sz="800" dirty="0"/>
          </a:p>
        </p:txBody>
      </p:sp>
      <p:pic>
        <p:nvPicPr>
          <p:cNvPr id="6" name="Image 0" descr="img/k_diag.png">    </p:cNvPr>
          <p:cNvPicPr>
            <a:picLocks noChangeAspect="1"/>
          </p:cNvPicPr>
          <p:nvPr/>
        </p:nvPicPr>
        <p:blipFill>
          <a:blip r:embed="rId1"/>
          <a:stretch>
            <a:fillRect/>
          </a:stretch>
        </p:blipFill>
        <p:spPr>
          <a:xfrm>
            <a:off x="548640" y="868680"/>
            <a:ext cx="8046720" cy="37033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6675120" cy="502920"/>
          </a:xfrm>
          <a:prstGeom prst="rect">
            <a:avLst/>
          </a:prstGeom>
          <a:noFill/>
          <a:ln/>
        </p:spPr>
        <p:txBody>
          <a:bodyPr wrap="square" lIns="0" tIns="0" rIns="0" bIns="0" rtlCol="0" anchor="ctr"/>
          <a:lstStyle/>
          <a:p>
            <a:pPr indent="0" marL="0">
              <a:buNone/>
            </a:pPr>
            <a:r>
              <a:rPr lang="en-US" sz="2400" b="1" dirty="0">
                <a:solidFill>
                  <a:srgbClr val="0B2545"/>
                </a:solidFill>
                <a:latin typeface="Calibri" pitchFamily="34" charset="0"/>
                <a:ea typeface="Calibri" pitchFamily="34" charset="-122"/>
                <a:cs typeface="Calibri" pitchFamily="34" charset="-120"/>
              </a:rPr>
              <a:t>Network devices and Wireshark evidence</a:t>
            </a:r>
            <a:endParaRPr lang="en-US" sz="2400" dirty="0"/>
          </a:p>
        </p:txBody>
      </p:sp>
      <p:sp>
        <p:nvSpPr>
          <p:cNvPr id="3" name="Text 1"/>
          <p:cNvSpPr txBox="1"/>
          <p:nvPr/>
        </p:nvSpPr>
        <p:spPr>
          <a:xfrm>
            <a:off x="6675120" y="274320"/>
            <a:ext cx="2011680" cy="411480"/>
          </a:xfrm>
          <a:prstGeom prst="rect">
            <a:avLst/>
          </a:prstGeom>
          <a:noFill/>
          <a:ln/>
        </p:spPr>
        <p:txBody>
          <a:bodyPr wrap="square" lIns="0" tIns="0" rIns="0" bIns="0" rtlCol="0" anchor="ctr"/>
          <a:lstStyle/>
          <a:p>
            <a:pPr algn="r" indent="0" marL="0">
              <a:buNone/>
            </a:pPr>
            <a:r>
              <a:rPr lang="en-US" sz="1000" dirty="0">
                <a:solidFill>
                  <a:srgbClr val="1D6FA5"/>
                </a:solidFill>
                <a:latin typeface="Calibri" pitchFamily="34" charset="0"/>
                <a:ea typeface="Calibri" pitchFamily="34" charset="-122"/>
                <a:cs typeface="Calibri" pitchFamily="34" charset="-120"/>
              </a:rPr>
              <a:t>Kenneth Ukata</a:t>
            </a:r>
            <a:endParaRPr lang="en-US" sz="1000" dirty="0"/>
          </a:p>
        </p:txBody>
      </p:sp>
      <p:sp>
        <p:nvSpPr>
          <p:cNvPr id="4" name="Text 2"/>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800" dirty="0">
                <a:solidFill>
                  <a:srgbClr val="707070"/>
                </a:solidFill>
                <a:latin typeface="Calibri" pitchFamily="34" charset="0"/>
                <a:ea typeface="Calibri" pitchFamily="34" charset="-122"/>
                <a:cs typeface="Calibri" pitchFamily="34" charset="-120"/>
              </a:rPr>
              <a:t>TEAM-08  |  TCP/IP Communication in Action   |   Evidence: Kenneth's capture</a:t>
            </a:r>
            <a:endParaRPr lang="en-US" sz="800" dirty="0"/>
          </a:p>
        </p:txBody>
      </p:sp>
      <p:sp>
        <p:nvSpPr>
          <p:cNvPr id="5" name="Text 3"/>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707070"/>
                </a:solidFill>
                <a:latin typeface="Calibri" pitchFamily="34" charset="0"/>
                <a:ea typeface="Calibri" pitchFamily="34" charset="-122"/>
                <a:cs typeface="Calibri" pitchFamily="34" charset="-120"/>
              </a:rPr>
              <a:t>5</a:t>
            </a:r>
            <a:endParaRPr lang="en-US" sz="800" dirty="0"/>
          </a:p>
        </p:txBody>
      </p:sp>
      <p:pic>
        <p:nvPicPr>
          <p:cNvPr id="6" name="Image 0" descr="img/k_shot.png">    </p:cNvPr>
          <p:cNvPicPr>
            <a:picLocks noChangeAspect="1"/>
          </p:cNvPicPr>
          <p:nvPr/>
        </p:nvPicPr>
        <p:blipFill>
          <a:blip r:embed="rId1"/>
          <a:stretch>
            <a:fillRect/>
          </a:stretch>
        </p:blipFill>
        <p:spPr>
          <a:xfrm>
            <a:off x="474260" y="868680"/>
            <a:ext cx="4172121" cy="2194560"/>
          </a:xfrm>
          <a:prstGeom prst="rect">
            <a:avLst/>
          </a:prstGeom>
        </p:spPr>
      </p:pic>
      <p:sp>
        <p:nvSpPr>
          <p:cNvPr id="7" name="Text 4"/>
          <p:cNvSpPr txBox="1"/>
          <p:nvPr/>
        </p:nvSpPr>
        <p:spPr>
          <a:xfrm>
            <a:off x="457200" y="3154680"/>
            <a:ext cx="4206240" cy="274320"/>
          </a:xfrm>
          <a:prstGeom prst="rect">
            <a:avLst/>
          </a:prstGeom>
          <a:noFill/>
          <a:ln/>
        </p:spPr>
        <p:txBody>
          <a:bodyPr wrap="square" lIns="0" tIns="0" rIns="0" bIns="0" rtlCol="0" anchor="t"/>
          <a:lstStyle/>
          <a:p>
            <a:pPr indent="0" marL="0">
              <a:buNone/>
            </a:pPr>
            <a:r>
              <a:rPr lang="en-US" sz="1200" b="1" dirty="0">
                <a:solidFill>
                  <a:srgbClr val="0B2545"/>
                </a:solidFill>
                <a:latin typeface="Calibri" pitchFamily="34" charset="0"/>
                <a:ea typeface="Calibri" pitchFamily="34" charset="-122"/>
                <a:cs typeface="Calibri" pitchFamily="34" charset="-120"/>
              </a:rPr>
              <a:t>Role of network devices</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3429000"/>
          <a:ext cx="4206240" cy="914400"/>
        </p:xfrm>
        <a:graphic>
          <a:graphicData uri="http://schemas.openxmlformats.org/drawingml/2006/table">
            <a:tbl>
              <a:tblPr/>
              <a:tblGrid>
                <a:gridCol w="1828800"/>
                <a:gridCol w="2377440"/>
              </a:tblGrid>
              <a:tr h="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Switch</a:t>
                      </a:r>
                      <a:endParaRPr lang="en-US" sz="8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solidFill>
                      <a:srgbClr val="1D6FA5"/>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Router</a:t>
                      </a:r>
                      <a:endParaRPr lang="en-US" sz="8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solidFill>
                      <a:srgbClr val="1D6FA5"/>
                    </a:solidFill>
                  </a:tcPr>
                </a:tc>
              </a:tr>
              <a:tr h="0">
                <a:tc>
                  <a:txBody>
                    <a:bodyPr/>
                    <a:lstStyle/>
                    <a:p>
                      <a:pPr algn="ctr" indent="0" marL="0">
                        <a:buNone/>
                      </a:pPr>
                      <a:r>
                        <a:rPr lang="en-US" sz="800" dirty="0">
                          <a:solidFill>
                            <a:srgbClr val="2B2B2B"/>
                          </a:solidFill>
                          <a:latin typeface="Calibri" pitchFamily="34" charset="0"/>
                          <a:ea typeface="Calibri" pitchFamily="34" charset="-122"/>
                          <a:cs typeface="Calibri" pitchFamily="34" charset="-120"/>
                        </a:rPr>
                        <a:t>Layer 2</a:t>
                      </a:r>
                      <a:endParaRPr lang="en-US" sz="8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algn="ctr" indent="0" marL="0">
                        <a:buNone/>
                      </a:pPr>
                      <a:r>
                        <a:rPr lang="en-US" sz="800" dirty="0">
                          <a:solidFill>
                            <a:srgbClr val="2B2B2B"/>
                          </a:solidFill>
                          <a:latin typeface="Calibri" pitchFamily="34" charset="0"/>
                          <a:ea typeface="Calibri" pitchFamily="34" charset="-122"/>
                          <a:cs typeface="Calibri" pitchFamily="34" charset="-120"/>
                        </a:rPr>
                        <a:t>Layer 3</a:t>
                      </a:r>
                      <a:endParaRPr lang="en-US" sz="8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800" dirty="0">
                          <a:solidFill>
                            <a:srgbClr val="2B2B2B"/>
                          </a:solidFill>
                          <a:latin typeface="Calibri" pitchFamily="34" charset="0"/>
                          <a:ea typeface="Calibri" pitchFamily="34" charset="-122"/>
                          <a:cs typeface="Calibri" pitchFamily="34" charset="-120"/>
                        </a:rPr>
                        <a:t>Forward frames within local segments using MAC tables without altering headers.</a:t>
                      </a:r>
                      <a:endParaRPr lang="en-US" sz="8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800" dirty="0">
                          <a:solidFill>
                            <a:srgbClr val="2B2B2B"/>
                          </a:solidFill>
                          <a:latin typeface="Calibri" pitchFamily="34" charset="0"/>
                          <a:ea typeface="Calibri" pitchFamily="34" charset="-122"/>
                          <a:cs typeface="Calibri" pitchFamily="34" charset="-120"/>
                        </a:rPr>
                        <a:t>Decapsulate incoming Layer 2 Ethernet frames, inspect Layer 3 IP headers to route packets across WANs, and re-encapsulate them with new MAC headers.</a:t>
                      </a:r>
                      <a:endParaRPr lang="en-US" sz="8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bl>
          </a:graphicData>
        </a:graphic>
      </p:graphicFrame>
      <p:sp>
        <p:nvSpPr>
          <p:cNvPr id="9" name="Shape 5"/>
          <p:cNvSpPr/>
          <p:nvPr/>
        </p:nvSpPr>
        <p:spPr>
          <a:xfrm>
            <a:off x="4937760" y="868680"/>
            <a:ext cx="3749040" cy="3840480"/>
          </a:xfrm>
          <a:prstGeom prst="roundRect">
            <a:avLst>
              <a:gd name="adj" fmla="val 1951"/>
            </a:avLst>
          </a:prstGeom>
          <a:solidFill>
            <a:srgbClr val="EAF2F8"/>
          </a:solidFill>
          <a:ln w="12700">
            <a:solidFill>
              <a:srgbClr val="EAF2F8"/>
            </a:solidFill>
            <a:prstDash val="solid"/>
          </a:ln>
        </p:spPr>
      </p:sp>
      <p:sp>
        <p:nvSpPr>
          <p:cNvPr id="10" name="Text 6"/>
          <p:cNvSpPr txBox="1"/>
          <p:nvPr/>
        </p:nvSpPr>
        <p:spPr>
          <a:xfrm>
            <a:off x="5074920" y="960120"/>
            <a:ext cx="3474720" cy="3657600"/>
          </a:xfrm>
          <a:prstGeom prst="rect">
            <a:avLst/>
          </a:prstGeom>
          <a:noFill/>
          <a:ln/>
        </p:spPr>
        <p:txBody>
          <a:bodyPr wrap="square" lIns="0" tIns="0" rIns="0" bIns="0" rtlCol="0" anchor="t"/>
          <a:lstStyle/>
          <a:p>
            <a:pPr indent="0" marL="0">
              <a:spcAft>
                <a:spcPts val="600"/>
              </a:spcAft>
              <a:buNone/>
            </a:pPr>
            <a:r>
              <a:rPr lang="en-US" sz="1100" b="1" dirty="0">
                <a:solidFill>
                  <a:srgbClr val="0B2545"/>
                </a:solidFill>
                <a:latin typeface="Calibri" pitchFamily="34" charset="0"/>
                <a:ea typeface="Calibri" pitchFamily="34" charset="-122"/>
                <a:cs typeface="Calibri" pitchFamily="34" charset="-120"/>
              </a:rPr>
              <a:t>OSI encapsulation stack (Packet #3 data)</a:t>
            </a:r>
            <a:endParaRPr lang="en-US" sz="1100" dirty="0"/>
          </a:p>
          <a:p>
            <a:pPr marL="342900" indent="-342900">
              <a:spcAft>
                <a:spcPts val="400"/>
              </a:spcAft>
              <a:buSzPct val="100000"/>
              <a:buChar char="•"/>
            </a:pPr>
            <a:r>
              <a:rPr lang="en-US" sz="1100" dirty="0">
                <a:solidFill>
                  <a:srgbClr val="2B2B2B"/>
                </a:solidFill>
                <a:latin typeface="Calibri" pitchFamily="34" charset="0"/>
                <a:ea typeface="Calibri" pitchFamily="34" charset="-122"/>
                <a:cs typeface="Calibri" pitchFamily="34" charset="-120"/>
              </a:rPr>
              <a:t>Layers 7–5: Encrypted TLS 1.2 Web Data.</a:t>
            </a:r>
            <a:endParaRPr lang="en-US" sz="1100" dirty="0"/>
          </a:p>
          <a:p>
            <a:pPr marL="342900" indent="-342900">
              <a:spcAft>
                <a:spcPts val="400"/>
              </a:spcAft>
              <a:buSzPct val="100000"/>
              <a:buChar char="•"/>
            </a:pPr>
            <a:r>
              <a:rPr lang="en-US" sz="1100" dirty="0">
                <a:solidFill>
                  <a:srgbClr val="2B2B2B"/>
                </a:solidFill>
                <a:latin typeface="Calibri" pitchFamily="34" charset="0"/>
                <a:ea typeface="Calibri" pitchFamily="34" charset="-122"/>
                <a:cs typeface="Calibri" pitchFamily="34" charset="-120"/>
              </a:rPr>
              <a:t>Layer 4 (Transport): TCP Header → Src Port 35900, Dst Port 443.</a:t>
            </a:r>
            <a:endParaRPr lang="en-US" sz="1100" dirty="0"/>
          </a:p>
          <a:p>
            <a:pPr marL="342900" indent="-342900">
              <a:spcAft>
                <a:spcPts val="400"/>
              </a:spcAft>
              <a:buSzPct val="100000"/>
              <a:buChar char="•"/>
            </a:pPr>
            <a:r>
              <a:rPr lang="en-US" sz="1100" dirty="0">
                <a:solidFill>
                  <a:srgbClr val="2B2B2B"/>
                </a:solidFill>
                <a:latin typeface="Calibri" pitchFamily="34" charset="0"/>
                <a:ea typeface="Calibri" pitchFamily="34" charset="-122"/>
                <a:cs typeface="Calibri" pitchFamily="34" charset="-120"/>
              </a:rPr>
              <a:t>Layer 3 (Network): IP Header → Src IP 10.0.2.15, Dst IP 23.194.190.168.</a:t>
            </a:r>
            <a:endParaRPr lang="en-US" sz="1100" dirty="0"/>
          </a:p>
          <a:p>
            <a:pPr marL="342900" indent="-342900">
              <a:spcAft>
                <a:spcPts val="400"/>
              </a:spcAft>
              <a:buSzPct val="100000"/>
              <a:buChar char="•"/>
            </a:pPr>
            <a:r>
              <a:rPr lang="en-US" sz="1100" dirty="0">
                <a:solidFill>
                  <a:srgbClr val="2B2B2B"/>
                </a:solidFill>
                <a:latin typeface="Calibri" pitchFamily="34" charset="0"/>
                <a:ea typeface="Calibri" pitchFamily="34" charset="-122"/>
                <a:cs typeface="Calibri" pitchFamily="34" charset="-120"/>
              </a:rPr>
              <a:t>Layer 2 (Data Link): Ethernet II Header → Src MAC 08:00:27:8a:35:d2, Gateway Dst MAC 52:55:0a:00:02:02.</a:t>
            </a:r>
            <a:endParaRPr lang="en-US" sz="1100" dirty="0"/>
          </a:p>
          <a:p>
            <a:pPr marL="342900" indent="-342900">
              <a:spcAft>
                <a:spcPts val="400"/>
              </a:spcAft>
              <a:buSzPct val="100000"/>
              <a:buChar char="•"/>
            </a:pPr>
            <a:r>
              <a:rPr lang="en-US" sz="1100" dirty="0">
                <a:solidFill>
                  <a:srgbClr val="2B2B2B"/>
                </a:solidFill>
                <a:latin typeface="Calibri" pitchFamily="34" charset="0"/>
                <a:ea typeface="Calibri" pitchFamily="34" charset="-122"/>
                <a:cs typeface="Calibri" pitchFamily="34" charset="-120"/>
              </a:rPr>
              <a:t>Layer 1 (Physical): Frame 3 → 54 bytes on wire (432 bits).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6675120" cy="502920"/>
          </a:xfrm>
          <a:prstGeom prst="rect">
            <a:avLst/>
          </a:prstGeom>
          <a:noFill/>
          <a:ln/>
        </p:spPr>
        <p:txBody>
          <a:bodyPr wrap="square" lIns="0" tIns="0" rIns="0" bIns="0" rtlCol="0" anchor="ctr"/>
          <a:lstStyle/>
          <a:p>
            <a:pPr indent="0" marL="0">
              <a:buNone/>
            </a:pPr>
            <a:r>
              <a:rPr lang="en-US" sz="2400" b="1" dirty="0">
                <a:solidFill>
                  <a:srgbClr val="0B2545"/>
                </a:solidFill>
                <a:latin typeface="Calibri" pitchFamily="34" charset="0"/>
                <a:ea typeface="Calibri" pitchFamily="34" charset="-122"/>
                <a:cs typeface="Calibri" pitchFamily="34" charset="-120"/>
              </a:rPr>
              <a:t>Protocols and addressing: opening x.com</a:t>
            </a:r>
            <a:endParaRPr lang="en-US" sz="2400" dirty="0"/>
          </a:p>
        </p:txBody>
      </p:sp>
      <p:sp>
        <p:nvSpPr>
          <p:cNvPr id="3" name="Text 1"/>
          <p:cNvSpPr txBox="1"/>
          <p:nvPr/>
        </p:nvSpPr>
        <p:spPr>
          <a:xfrm>
            <a:off x="6675120" y="274320"/>
            <a:ext cx="2011680" cy="411480"/>
          </a:xfrm>
          <a:prstGeom prst="rect">
            <a:avLst/>
          </a:prstGeom>
          <a:noFill/>
          <a:ln/>
        </p:spPr>
        <p:txBody>
          <a:bodyPr wrap="square" lIns="0" tIns="0" rIns="0" bIns="0" rtlCol="0" anchor="ctr"/>
          <a:lstStyle/>
          <a:p>
            <a:pPr algn="r" indent="0" marL="0">
              <a:buNone/>
            </a:pPr>
            <a:r>
              <a:rPr lang="en-US" sz="1000" dirty="0">
                <a:solidFill>
                  <a:srgbClr val="1D6FA5"/>
                </a:solidFill>
                <a:latin typeface="Calibri" pitchFamily="34" charset="0"/>
                <a:ea typeface="Calibri" pitchFamily="34" charset="-122"/>
                <a:cs typeface="Calibri" pitchFamily="34" charset="-120"/>
              </a:rPr>
              <a:t>Mustapha Abubakar</a:t>
            </a:r>
            <a:endParaRPr lang="en-US" sz="1000" dirty="0"/>
          </a:p>
        </p:txBody>
      </p:sp>
      <p:sp>
        <p:nvSpPr>
          <p:cNvPr id="4" name="Text 2"/>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800" dirty="0">
                <a:solidFill>
                  <a:srgbClr val="707070"/>
                </a:solidFill>
                <a:latin typeface="Calibri" pitchFamily="34" charset="0"/>
                <a:ea typeface="Calibri" pitchFamily="34" charset="-122"/>
                <a:cs typeface="Calibri" pitchFamily="34" charset="-120"/>
              </a:rPr>
              <a:t>TEAM-08  |  TCP/IP Communication in Action   |   Evidence: Mustapha's capture (Kali VM, VMware)</a:t>
            </a:r>
            <a:endParaRPr lang="en-US" sz="800" dirty="0"/>
          </a:p>
        </p:txBody>
      </p:sp>
      <p:sp>
        <p:nvSpPr>
          <p:cNvPr id="5" name="Text 3"/>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707070"/>
                </a:solidFill>
                <a:latin typeface="Calibri" pitchFamily="34" charset="0"/>
                <a:ea typeface="Calibri" pitchFamily="34" charset="-122"/>
                <a:cs typeface="Calibri" pitchFamily="34" charset="-120"/>
              </a:rPr>
              <a:t>6</a:t>
            </a:r>
            <a:endParaRPr lang="en-US" sz="800" dirty="0"/>
          </a:p>
        </p:txBody>
      </p:sp>
      <p:sp>
        <p:nvSpPr>
          <p:cNvPr id="6" name="Text 4"/>
          <p:cNvSpPr txBox="1"/>
          <p:nvPr/>
        </p:nvSpPr>
        <p:spPr>
          <a:xfrm>
            <a:off x="457200" y="868680"/>
            <a:ext cx="4114800" cy="2377440"/>
          </a:xfrm>
          <a:prstGeom prst="rect">
            <a:avLst/>
          </a:prstGeom>
          <a:noFill/>
          <a:ln/>
        </p:spPr>
        <p:txBody>
          <a:bodyPr wrap="square" lIns="0" tIns="0" rIns="0" bIns="0" rtlCol="0" anchor="t"/>
          <a:lstStyle/>
          <a:p>
            <a:pPr indent="0" marL="0">
              <a:spcAft>
                <a:spcPts val="400"/>
              </a:spcAft>
              <a:buNone/>
            </a:pPr>
            <a:r>
              <a:rPr lang="en-US" sz="1100" b="1" dirty="0">
                <a:solidFill>
                  <a:srgbClr val="0B2545"/>
                </a:solidFill>
                <a:latin typeface="Calibri" pitchFamily="34" charset="0"/>
                <a:ea typeface="Calibri" pitchFamily="34" charset="-122"/>
                <a:cs typeface="Calibri" pitchFamily="34" charset="-120"/>
              </a:rPr>
              <a:t>Protocol order</a:t>
            </a:r>
            <a:endParaRPr lang="en-US" sz="1100" dirty="0"/>
          </a:p>
          <a:p>
            <a:pPr marL="342900" indent="-342900">
              <a:spcAft>
                <a:spcPts val="500"/>
              </a:spcAft>
              <a:buSzPct val="100000"/>
              <a:buFont typeface="+mj-lt"/>
              <a:buAutoNum type="arabicPeriod" startAt="1"/>
            </a:pPr>
            <a:r>
              <a:rPr lang="en-US" sz="1100" dirty="0">
                <a:solidFill>
                  <a:srgbClr val="2B2B2B"/>
                </a:solidFill>
                <a:latin typeface="Calibri" pitchFamily="34" charset="0"/>
                <a:ea typeface="Calibri" pitchFamily="34" charset="-122"/>
                <a:cs typeface="Calibri" pitchFamily="34" charset="-120"/>
              </a:rPr>
              <a:t>ARP: asks "who has 192.168.80.2?" and the gateway replies with its MAC.</a:t>
            </a:r>
            <a:endParaRPr lang="en-US" sz="1100" dirty="0"/>
          </a:p>
          <a:p>
            <a:pPr marL="342900" indent="-342900">
              <a:spcAft>
                <a:spcPts val="500"/>
              </a:spcAft>
              <a:buSzPct val="100000"/>
              <a:buFont typeface="+mj-lt"/>
              <a:buAutoNum type="arabicPeriod" startAt="1"/>
            </a:pPr>
            <a:r>
              <a:rPr lang="en-US" sz="1100" dirty="0">
                <a:solidFill>
                  <a:srgbClr val="2B2B2B"/>
                </a:solidFill>
                <a:latin typeface="Calibri" pitchFamily="34" charset="0"/>
                <a:ea typeface="Calibri" pitchFamily="34" charset="-122"/>
                <a:cs typeface="Calibri" pitchFamily="34" charset="-120"/>
              </a:rPr>
              <a:t>DNS (UDP 53): x.com resolved to 162.159.140.229.</a:t>
            </a:r>
            <a:endParaRPr lang="en-US" sz="1100" dirty="0"/>
          </a:p>
          <a:p>
            <a:pPr marL="342900" indent="-342900">
              <a:spcAft>
                <a:spcPts val="500"/>
              </a:spcAft>
              <a:buSzPct val="100000"/>
              <a:buFont typeface="+mj-lt"/>
              <a:buAutoNum type="arabicPeriod" startAt="1"/>
            </a:pPr>
            <a:r>
              <a:rPr lang="en-US" sz="1100" dirty="0">
                <a:solidFill>
                  <a:srgbClr val="2B2B2B"/>
                </a:solidFill>
                <a:latin typeface="Calibri" pitchFamily="34" charset="0"/>
                <a:ea typeface="Calibri" pitchFamily="34" charset="-122"/>
                <a:cs typeface="Calibri" pitchFamily="34" charset="-120"/>
              </a:rPr>
              <a:t>TCP (port 443): three-way handshake SYN, SYN-ACK, ACK.</a:t>
            </a:r>
            <a:endParaRPr lang="en-US" sz="1100" dirty="0"/>
          </a:p>
          <a:p>
            <a:pPr marL="342900" indent="-342900">
              <a:spcAft>
                <a:spcPts val="500"/>
              </a:spcAft>
              <a:buSzPct val="100000"/>
              <a:buFont typeface="+mj-lt"/>
              <a:buAutoNum type="arabicPeriod" startAt="1"/>
            </a:pPr>
            <a:r>
              <a:rPr lang="en-US" sz="1100" dirty="0">
                <a:solidFill>
                  <a:srgbClr val="2B2B2B"/>
                </a:solidFill>
                <a:latin typeface="Calibri" pitchFamily="34" charset="0"/>
                <a:ea typeface="Calibri" pitchFamily="34" charset="-122"/>
                <a:cs typeface="Calibri" pitchFamily="34" charset="-120"/>
              </a:rPr>
              <a:t>TLS 1.3 and HTTP/2: connection encrypted, then the request is answered with 200.</a:t>
            </a:r>
            <a:endParaRPr lang="en-US" sz="1100" dirty="0"/>
          </a:p>
        </p:txBody>
      </p:sp>
      <p:pic>
        <p:nvPicPr>
          <p:cNvPr id="7" name="Image 0" descr="img/m_fig8.jpg">    </p:cNvPr>
          <p:cNvPicPr>
            <a:picLocks noChangeAspect="1"/>
          </p:cNvPicPr>
          <p:nvPr/>
        </p:nvPicPr>
        <p:blipFill>
          <a:blip r:embed="rId1"/>
          <a:stretch>
            <a:fillRect/>
          </a:stretch>
        </p:blipFill>
        <p:spPr>
          <a:xfrm>
            <a:off x="4769168" y="868680"/>
            <a:ext cx="3903345" cy="2194560"/>
          </a:xfrm>
          <a:prstGeom prst="rect">
            <a:avLst/>
          </a:prstGeom>
        </p:spPr>
      </p:pic>
      <p:sp>
        <p:nvSpPr>
          <p:cNvPr id="8" name="Shape 5"/>
          <p:cNvSpPr/>
          <p:nvPr/>
        </p:nvSpPr>
        <p:spPr>
          <a:xfrm>
            <a:off x="457200" y="3337560"/>
            <a:ext cx="2651760" cy="1371600"/>
          </a:xfrm>
          <a:prstGeom prst="roundRect">
            <a:avLst>
              <a:gd name="adj" fmla="val 5333"/>
            </a:avLst>
          </a:prstGeom>
          <a:solidFill>
            <a:srgbClr val="EAF2F8"/>
          </a:solidFill>
          <a:ln w="12700">
            <a:solidFill>
              <a:srgbClr val="EAF2F8"/>
            </a:solidFill>
            <a:prstDash val="solid"/>
          </a:ln>
        </p:spPr>
      </p:sp>
      <p:sp>
        <p:nvSpPr>
          <p:cNvPr id="9" name="Text 6"/>
          <p:cNvSpPr txBox="1"/>
          <p:nvPr/>
        </p:nvSpPr>
        <p:spPr>
          <a:xfrm>
            <a:off x="566928" y="3410712"/>
            <a:ext cx="2432304" cy="1234440"/>
          </a:xfrm>
          <a:prstGeom prst="rect">
            <a:avLst/>
          </a:prstGeom>
          <a:noFill/>
          <a:ln/>
        </p:spPr>
        <p:txBody>
          <a:bodyPr wrap="square" lIns="0" tIns="0" rIns="0" bIns="0" rtlCol="0" anchor="t"/>
          <a:lstStyle/>
          <a:p>
            <a:pPr indent="0" marL="0">
              <a:buNone/>
            </a:pPr>
            <a:r>
              <a:rPr lang="en-US" sz="1300" b="1" dirty="0">
                <a:solidFill>
                  <a:srgbClr val="1D6FA5"/>
                </a:solidFill>
                <a:latin typeface="Calibri" pitchFamily="34" charset="0"/>
                <a:ea typeface="Calibri" pitchFamily="34" charset="-122"/>
                <a:cs typeface="Calibri" pitchFamily="34" charset="-120"/>
              </a:rPr>
              <a:t>MAC address</a:t>
            </a:r>
            <a:endParaRPr lang="en-US" sz="1100" dirty="0"/>
          </a:p>
          <a:p>
            <a:pPr indent="0" marL="0">
              <a:spcAft>
                <a:spcPts val="400"/>
              </a:spcAft>
              <a:buNone/>
            </a:pPr>
            <a:r>
              <a:rPr lang="en-US" sz="1000" i="1" dirty="0">
                <a:solidFill>
                  <a:srgbClr val="2B2B2B"/>
                </a:solidFill>
                <a:latin typeface="Calibri" pitchFamily="34" charset="0"/>
                <a:ea typeface="Calibri" pitchFamily="34" charset="-122"/>
                <a:cs typeface="Calibri" pitchFamily="34" charset="-120"/>
              </a:rPr>
              <a:t>Local link, changes at each hop</a:t>
            </a:r>
            <a:endParaRPr lang="en-US" sz="1100" dirty="0"/>
          </a:p>
          <a:p>
            <a:pPr indent="0" marL="0">
              <a:buNone/>
            </a:pPr>
            <a:r>
              <a:rPr lang="en-US" sz="1000" dirty="0">
                <a:solidFill>
                  <a:srgbClr val="2B2B2B"/>
                </a:solidFill>
                <a:latin typeface="Calibri" pitchFamily="34" charset="0"/>
                <a:ea typeface="Calibri" pitchFamily="34" charset="-122"/>
                <a:cs typeface="Calibri" pitchFamily="34" charset="-120"/>
              </a:rPr>
              <a:t>00:0c:29:d7:26:97 → 00:50:56:e4:62:da (Kali → gateway)</a:t>
            </a:r>
            <a:endParaRPr lang="en-US" sz="1100" dirty="0"/>
          </a:p>
        </p:txBody>
      </p:sp>
      <p:sp>
        <p:nvSpPr>
          <p:cNvPr id="10" name="Shape 7"/>
          <p:cNvSpPr/>
          <p:nvPr/>
        </p:nvSpPr>
        <p:spPr>
          <a:xfrm>
            <a:off x="3246120" y="3337560"/>
            <a:ext cx="2651760" cy="1371600"/>
          </a:xfrm>
          <a:prstGeom prst="roundRect">
            <a:avLst>
              <a:gd name="adj" fmla="val 5333"/>
            </a:avLst>
          </a:prstGeom>
          <a:solidFill>
            <a:srgbClr val="EAF2F8"/>
          </a:solidFill>
          <a:ln w="12700">
            <a:solidFill>
              <a:srgbClr val="EAF2F8"/>
            </a:solidFill>
            <a:prstDash val="solid"/>
          </a:ln>
        </p:spPr>
      </p:sp>
      <p:sp>
        <p:nvSpPr>
          <p:cNvPr id="11" name="Text 8"/>
          <p:cNvSpPr txBox="1"/>
          <p:nvPr/>
        </p:nvSpPr>
        <p:spPr>
          <a:xfrm>
            <a:off x="3355848" y="3410712"/>
            <a:ext cx="2432304" cy="1234440"/>
          </a:xfrm>
          <a:prstGeom prst="rect">
            <a:avLst/>
          </a:prstGeom>
          <a:noFill/>
          <a:ln/>
        </p:spPr>
        <p:txBody>
          <a:bodyPr wrap="square" lIns="0" tIns="0" rIns="0" bIns="0" rtlCol="0" anchor="t"/>
          <a:lstStyle/>
          <a:p>
            <a:pPr indent="0" marL="0">
              <a:buNone/>
            </a:pPr>
            <a:r>
              <a:rPr lang="en-US" sz="1300" b="1" dirty="0">
                <a:solidFill>
                  <a:srgbClr val="1D6FA5"/>
                </a:solidFill>
                <a:latin typeface="Calibri" pitchFamily="34" charset="0"/>
                <a:ea typeface="Calibri" pitchFamily="34" charset="-122"/>
                <a:cs typeface="Calibri" pitchFamily="34" charset="-120"/>
              </a:rPr>
              <a:t>IP address</a:t>
            </a:r>
            <a:endParaRPr lang="en-US" sz="1100" dirty="0"/>
          </a:p>
          <a:p>
            <a:pPr indent="0" marL="0">
              <a:spcAft>
                <a:spcPts val="400"/>
              </a:spcAft>
              <a:buNone/>
            </a:pPr>
            <a:r>
              <a:rPr lang="en-US" sz="1000" i="1" dirty="0">
                <a:solidFill>
                  <a:srgbClr val="2B2B2B"/>
                </a:solidFill>
                <a:latin typeface="Calibri" pitchFamily="34" charset="0"/>
                <a:ea typeface="Calibri" pitchFamily="34" charset="-122"/>
                <a:cs typeface="Calibri" pitchFamily="34" charset="-120"/>
              </a:rPr>
              <a:t>End to end, stays the same</a:t>
            </a:r>
            <a:endParaRPr lang="en-US" sz="1100" dirty="0"/>
          </a:p>
          <a:p>
            <a:pPr indent="0" marL="0">
              <a:buNone/>
            </a:pPr>
            <a:r>
              <a:rPr lang="en-US" sz="1000" dirty="0">
                <a:solidFill>
                  <a:srgbClr val="2B2B2B"/>
                </a:solidFill>
                <a:latin typeface="Calibri" pitchFamily="34" charset="0"/>
                <a:ea typeface="Calibri" pitchFamily="34" charset="-122"/>
                <a:cs typeface="Calibri" pitchFamily="34" charset="-120"/>
              </a:rPr>
              <a:t>192.168.80.130 → 162.159.140.229</a:t>
            </a:r>
            <a:endParaRPr lang="en-US" sz="1100" dirty="0"/>
          </a:p>
        </p:txBody>
      </p:sp>
      <p:sp>
        <p:nvSpPr>
          <p:cNvPr id="12" name="Shape 9"/>
          <p:cNvSpPr/>
          <p:nvPr/>
        </p:nvSpPr>
        <p:spPr>
          <a:xfrm>
            <a:off x="6035040" y="3337560"/>
            <a:ext cx="2651760" cy="1371600"/>
          </a:xfrm>
          <a:prstGeom prst="roundRect">
            <a:avLst>
              <a:gd name="adj" fmla="val 5333"/>
            </a:avLst>
          </a:prstGeom>
          <a:solidFill>
            <a:srgbClr val="EAF2F8"/>
          </a:solidFill>
          <a:ln w="12700">
            <a:solidFill>
              <a:srgbClr val="EAF2F8"/>
            </a:solidFill>
            <a:prstDash val="solid"/>
          </a:ln>
        </p:spPr>
      </p:sp>
      <p:sp>
        <p:nvSpPr>
          <p:cNvPr id="13" name="Text 10"/>
          <p:cNvSpPr txBox="1"/>
          <p:nvPr/>
        </p:nvSpPr>
        <p:spPr>
          <a:xfrm>
            <a:off x="6144768" y="3410712"/>
            <a:ext cx="2432304" cy="1234440"/>
          </a:xfrm>
          <a:prstGeom prst="rect">
            <a:avLst/>
          </a:prstGeom>
          <a:noFill/>
          <a:ln/>
        </p:spPr>
        <p:txBody>
          <a:bodyPr wrap="square" lIns="0" tIns="0" rIns="0" bIns="0" rtlCol="0" anchor="t"/>
          <a:lstStyle/>
          <a:p>
            <a:pPr indent="0" marL="0">
              <a:buNone/>
            </a:pPr>
            <a:r>
              <a:rPr lang="en-US" sz="1300" b="1" dirty="0">
                <a:solidFill>
                  <a:srgbClr val="1D6FA5"/>
                </a:solidFill>
                <a:latin typeface="Calibri" pitchFamily="34" charset="0"/>
                <a:ea typeface="Calibri" pitchFamily="34" charset="-122"/>
                <a:cs typeface="Calibri" pitchFamily="34" charset="-120"/>
              </a:rPr>
              <a:t>Port number</a:t>
            </a:r>
            <a:endParaRPr lang="en-US" sz="1100" dirty="0"/>
          </a:p>
          <a:p>
            <a:pPr indent="0" marL="0">
              <a:spcAft>
                <a:spcPts val="400"/>
              </a:spcAft>
              <a:buNone/>
            </a:pPr>
            <a:r>
              <a:rPr lang="en-US" sz="1000" i="1" dirty="0">
                <a:solidFill>
                  <a:srgbClr val="2B2B2B"/>
                </a:solidFill>
                <a:latin typeface="Calibri" pitchFamily="34" charset="0"/>
                <a:ea typeface="Calibri" pitchFamily="34" charset="-122"/>
                <a:cs typeface="Calibri" pitchFamily="34" charset="-120"/>
              </a:rPr>
              <a:t>Identifies the application</a:t>
            </a:r>
            <a:endParaRPr lang="en-US" sz="1100" dirty="0"/>
          </a:p>
          <a:p>
            <a:pPr indent="0" marL="0">
              <a:buNone/>
            </a:pPr>
            <a:r>
              <a:rPr lang="en-US" sz="1000" dirty="0">
                <a:solidFill>
                  <a:srgbClr val="2B2B2B"/>
                </a:solidFill>
                <a:latin typeface="Calibri" pitchFamily="34" charset="0"/>
                <a:ea typeface="Calibri" pitchFamily="34" charset="-122"/>
                <a:cs typeface="Calibri" pitchFamily="34" charset="-120"/>
              </a:rPr>
              <a:t>Temporary source port 51938 → 443 (HTTPS). DNS: 35292 → 53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6675120" cy="502920"/>
          </a:xfrm>
          <a:prstGeom prst="rect">
            <a:avLst/>
          </a:prstGeom>
          <a:noFill/>
          <a:ln/>
        </p:spPr>
        <p:txBody>
          <a:bodyPr wrap="square" lIns="0" tIns="0" rIns="0" bIns="0" rtlCol="0" anchor="ctr"/>
          <a:lstStyle/>
          <a:p>
            <a:pPr indent="0" marL="0">
              <a:buNone/>
            </a:pPr>
            <a:r>
              <a:rPr lang="en-US" sz="2400" b="1" dirty="0">
                <a:solidFill>
                  <a:srgbClr val="0B2545"/>
                </a:solidFill>
                <a:latin typeface="Calibri" pitchFamily="34" charset="0"/>
                <a:ea typeface="Calibri" pitchFamily="34" charset="-122"/>
                <a:cs typeface="Calibri" pitchFamily="34" charset="-120"/>
              </a:rPr>
              <a:t>Protocol analysis table</a:t>
            </a:r>
            <a:endParaRPr lang="en-US" sz="2400" dirty="0"/>
          </a:p>
        </p:txBody>
      </p:sp>
      <p:sp>
        <p:nvSpPr>
          <p:cNvPr id="3" name="Text 1"/>
          <p:cNvSpPr txBox="1"/>
          <p:nvPr/>
        </p:nvSpPr>
        <p:spPr>
          <a:xfrm>
            <a:off x="6675120" y="274320"/>
            <a:ext cx="2011680" cy="411480"/>
          </a:xfrm>
          <a:prstGeom prst="rect">
            <a:avLst/>
          </a:prstGeom>
          <a:noFill/>
          <a:ln/>
        </p:spPr>
        <p:txBody>
          <a:bodyPr wrap="square" lIns="0" tIns="0" rIns="0" bIns="0" rtlCol="0" anchor="ctr"/>
          <a:lstStyle/>
          <a:p>
            <a:pPr algn="r" indent="0" marL="0">
              <a:buNone/>
            </a:pPr>
            <a:r>
              <a:rPr lang="en-US" sz="1000" dirty="0">
                <a:solidFill>
                  <a:srgbClr val="1D6FA5"/>
                </a:solidFill>
                <a:latin typeface="Calibri" pitchFamily="34" charset="0"/>
                <a:ea typeface="Calibri" pitchFamily="34" charset="-122"/>
                <a:cs typeface="Calibri" pitchFamily="34" charset="-120"/>
              </a:rPr>
              <a:t>Mustapha Abubakar</a:t>
            </a:r>
            <a:endParaRPr lang="en-US" sz="1000" dirty="0"/>
          </a:p>
        </p:txBody>
      </p:sp>
      <p:sp>
        <p:nvSpPr>
          <p:cNvPr id="4" name="Text 2"/>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800" dirty="0">
                <a:solidFill>
                  <a:srgbClr val="707070"/>
                </a:solidFill>
                <a:latin typeface="Calibri" pitchFamily="34" charset="0"/>
                <a:ea typeface="Calibri" pitchFamily="34" charset="-122"/>
                <a:cs typeface="Calibri" pitchFamily="34" charset="-120"/>
              </a:rPr>
              <a:t>TEAM-08  |  TCP/IP Communication in Action   |   Evidence: Mustapha's capture</a:t>
            </a:r>
            <a:endParaRPr lang="en-US" sz="800" dirty="0"/>
          </a:p>
        </p:txBody>
      </p:sp>
      <p:sp>
        <p:nvSpPr>
          <p:cNvPr id="5" name="Text 3"/>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707070"/>
                </a:solidFill>
                <a:latin typeface="Calibri" pitchFamily="34" charset="0"/>
                <a:ea typeface="Calibri" pitchFamily="34" charset="-122"/>
                <a:cs typeface="Calibri" pitchFamily="34" charset="-120"/>
              </a:rPr>
              <a:t>7</a:t>
            </a:r>
            <a:endParaRPr lang="en-US" sz="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1188720"/>
                <a:gridCol w="1463040"/>
                <a:gridCol w="822960"/>
                <a:gridCol w="2468880"/>
                <a:gridCol w="228600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TCP/IP layer</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solidFill>
                      <a:srgbClr val="1D6FA5"/>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Protocol</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solidFill>
                      <a:srgbClr val="1D6FA5"/>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PDU</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solidFill>
                      <a:srgbClr val="1D6FA5"/>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Addressing information</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solidFill>
                      <a:srgbClr val="1D6FA5"/>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solidFill>
                      <a:srgbClr val="1D6FA5"/>
                    </a:solidFill>
                  </a:tcPr>
                </a:tc>
              </a:tr>
              <a:tr h="0">
                <a:tc>
                  <a:txBody>
                    <a:bodyPr/>
                    <a:lstStyle/>
                    <a:p>
                      <a:pPr indent="0" marL="0">
                        <a:buNone/>
                      </a:pPr>
                      <a:r>
                        <a:rPr lang="en-US" sz="1000" b="1" dirty="0">
                          <a:solidFill>
                            <a:srgbClr val="2B2B2B"/>
                          </a:solidFill>
                          <a:latin typeface="Calibri" pitchFamily="34" charset="0"/>
                          <a:ea typeface="Calibri" pitchFamily="34" charset="-122"/>
                          <a:cs typeface="Calibri" pitchFamily="34" charset="-120"/>
                        </a:rPr>
                        <a:t>Application</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DNS</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Message</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UDP 35292 → 53</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Resolves x.com to an IP address</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1000" b="1" dirty="0">
                          <a:solidFill>
                            <a:srgbClr val="2B2B2B"/>
                          </a:solidFill>
                          <a:latin typeface="Calibri" pitchFamily="34" charset="0"/>
                          <a:ea typeface="Calibri" pitchFamily="34" charset="-122"/>
                          <a:cs typeface="Calibri" pitchFamily="34" charset="-120"/>
                        </a:rPr>
                        <a:t>Application</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HTTP/2 over TLS 1.3</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Message</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TCP 51938 → 443</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Encrypted web request and response</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1000" b="1" dirty="0">
                          <a:solidFill>
                            <a:srgbClr val="2B2B2B"/>
                          </a:solidFill>
                          <a:latin typeface="Calibri" pitchFamily="34" charset="0"/>
                          <a:ea typeface="Calibri" pitchFamily="34" charset="-122"/>
                          <a:cs typeface="Calibri" pitchFamily="34" charset="-120"/>
                        </a:rPr>
                        <a:t>Transport</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UDP</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Datagram</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Source and destination ports</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Fast, connectionless delivery (DNS)</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1000" b="1" dirty="0">
                          <a:solidFill>
                            <a:srgbClr val="2B2B2B"/>
                          </a:solidFill>
                          <a:latin typeface="Calibri" pitchFamily="34" charset="0"/>
                          <a:ea typeface="Calibri" pitchFamily="34" charset="-122"/>
                          <a:cs typeface="Calibri" pitchFamily="34" charset="-120"/>
                        </a:rPr>
                        <a:t>Transport</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TCP</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Segment</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Ports, sequence and ACK numbers</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Reliable, ordered delivery (HTTPS)</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1000" b="1" dirty="0">
                          <a:solidFill>
                            <a:srgbClr val="2B2B2B"/>
                          </a:solidFill>
                          <a:latin typeface="Calibri" pitchFamily="34" charset="0"/>
                          <a:ea typeface="Calibri" pitchFamily="34" charset="-122"/>
                          <a:cs typeface="Calibri" pitchFamily="34" charset="-120"/>
                        </a:rPr>
                        <a:t>Internet</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IPv4</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Packet</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192.168.80.130 → 162.159.140.229</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End-to-end addressing and routing</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1000" b="1" dirty="0">
                          <a:solidFill>
                            <a:srgbClr val="2B2B2B"/>
                          </a:solidFill>
                          <a:latin typeface="Calibri" pitchFamily="34" charset="0"/>
                          <a:ea typeface="Calibri" pitchFamily="34" charset="-122"/>
                          <a:cs typeface="Calibri" pitchFamily="34" charset="-120"/>
                        </a:rPr>
                        <a:t>Internet</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ICMP</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Packet</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192.168.80.130 → 192.168.80.2</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Connectivity test (ping to gateway)</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1000" b="1" dirty="0">
                          <a:solidFill>
                            <a:srgbClr val="2B2B2B"/>
                          </a:solidFill>
                          <a:latin typeface="Calibri" pitchFamily="34" charset="0"/>
                          <a:ea typeface="Calibri" pitchFamily="34" charset="-122"/>
                          <a:cs typeface="Calibri" pitchFamily="34" charset="-120"/>
                        </a:rPr>
                        <a:t>Network Access</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Ethernet II</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Frame</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00:0c:29:d7:26:97 → 00:50:56:e4:62:da</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Delivery on the local link</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1000" b="1" dirty="0">
                          <a:solidFill>
                            <a:srgbClr val="2B2B2B"/>
                          </a:solidFill>
                          <a:latin typeface="Calibri" pitchFamily="34" charset="0"/>
                          <a:ea typeface="Calibri" pitchFamily="34" charset="-122"/>
                          <a:cs typeface="Calibri" pitchFamily="34" charset="-120"/>
                        </a:rPr>
                        <a:t>Network Access</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ARP</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Frame</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Broadcast: who has 192.168.80.2?</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Finds the gateway MAC address</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6675120" cy="502920"/>
          </a:xfrm>
          <a:prstGeom prst="rect">
            <a:avLst/>
          </a:prstGeom>
          <a:noFill/>
          <a:ln/>
        </p:spPr>
        <p:txBody>
          <a:bodyPr wrap="square" lIns="0" tIns="0" rIns="0" bIns="0" rtlCol="0" anchor="ctr"/>
          <a:lstStyle/>
          <a:p>
            <a:pPr indent="0" marL="0">
              <a:buNone/>
            </a:pPr>
            <a:r>
              <a:rPr lang="en-US" sz="2400" b="1" dirty="0">
                <a:solidFill>
                  <a:srgbClr val="0B2545"/>
                </a:solidFill>
                <a:latin typeface="Calibri" pitchFamily="34" charset="0"/>
                <a:ea typeface="Calibri" pitchFamily="34" charset="-122"/>
                <a:cs typeface="Calibri" pitchFamily="34" charset="-120"/>
              </a:rPr>
              <a:t>TCP vs UDP</a:t>
            </a:r>
            <a:endParaRPr lang="en-US" sz="2400" dirty="0"/>
          </a:p>
        </p:txBody>
      </p:sp>
      <p:sp>
        <p:nvSpPr>
          <p:cNvPr id="3" name="Text 1"/>
          <p:cNvSpPr txBox="1"/>
          <p:nvPr/>
        </p:nvSpPr>
        <p:spPr>
          <a:xfrm>
            <a:off x="6675120" y="274320"/>
            <a:ext cx="2011680" cy="411480"/>
          </a:xfrm>
          <a:prstGeom prst="rect">
            <a:avLst/>
          </a:prstGeom>
          <a:noFill/>
          <a:ln/>
        </p:spPr>
        <p:txBody>
          <a:bodyPr wrap="square" lIns="0" tIns="0" rIns="0" bIns="0" rtlCol="0" anchor="ctr"/>
          <a:lstStyle/>
          <a:p>
            <a:pPr algn="r" indent="0" marL="0">
              <a:buNone/>
            </a:pPr>
            <a:r>
              <a:rPr lang="en-US" sz="1000" dirty="0">
                <a:solidFill>
                  <a:srgbClr val="1D6FA5"/>
                </a:solidFill>
                <a:latin typeface="Calibri" pitchFamily="34" charset="0"/>
                <a:ea typeface="Calibri" pitchFamily="34" charset="-122"/>
                <a:cs typeface="Calibri" pitchFamily="34" charset="-120"/>
              </a:rPr>
              <a:t>Samina Parveen  |  C11/26/FCDF/17139</a:t>
            </a:r>
            <a:endParaRPr lang="en-US" sz="1000" dirty="0"/>
          </a:p>
        </p:txBody>
      </p:sp>
      <p:sp>
        <p:nvSpPr>
          <p:cNvPr id="4" name="Text 2"/>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800" dirty="0">
                <a:solidFill>
                  <a:srgbClr val="707070"/>
                </a:solidFill>
                <a:latin typeface="Calibri" pitchFamily="34" charset="0"/>
                <a:ea typeface="Calibri" pitchFamily="34" charset="-122"/>
                <a:cs typeface="Calibri" pitchFamily="34" charset="-120"/>
              </a:rPr>
              <a:t>TEAM-08  |  TCP/IP Communication in Action   |   Evidence: Samina's capture</a:t>
            </a:r>
            <a:endParaRPr lang="en-US" sz="800" dirty="0"/>
          </a:p>
        </p:txBody>
      </p:sp>
      <p:sp>
        <p:nvSpPr>
          <p:cNvPr id="5" name="Text 3"/>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707070"/>
                </a:solidFill>
                <a:latin typeface="Calibri" pitchFamily="34" charset="0"/>
                <a:ea typeface="Calibri" pitchFamily="34" charset="-122"/>
                <a:cs typeface="Calibri" pitchFamily="34" charset="-120"/>
              </a:rPr>
              <a:t>8</a:t>
            </a:r>
            <a:endParaRPr lang="en-US" sz="800" dirty="0"/>
          </a:p>
        </p:txBody>
      </p:sp>
      <p:sp>
        <p:nvSpPr>
          <p:cNvPr id="6" name="Text 4"/>
          <p:cNvSpPr txBox="1"/>
          <p:nvPr/>
        </p:nvSpPr>
        <p:spPr>
          <a:xfrm>
            <a:off x="457200" y="777240"/>
            <a:ext cx="8229600" cy="274320"/>
          </a:xfrm>
          <a:prstGeom prst="rect">
            <a:avLst/>
          </a:prstGeom>
          <a:noFill/>
          <a:ln/>
        </p:spPr>
        <p:txBody>
          <a:bodyPr wrap="square" lIns="0" tIns="0" rIns="0" bIns="0" rtlCol="0" anchor="t"/>
          <a:lstStyle/>
          <a:p>
            <a:pPr indent="0" marL="0">
              <a:buNone/>
            </a:pPr>
            <a:r>
              <a:rPr lang="en-US" sz="1200" i="1" dirty="0">
                <a:solidFill>
                  <a:srgbClr val="1D6FA5"/>
                </a:solidFill>
                <a:latin typeface="Calibri" pitchFamily="34" charset="0"/>
                <a:ea typeface="Calibri" pitchFamily="34" charset="-122"/>
                <a:cs typeface="Calibri" pitchFamily="34" charset="-120"/>
              </a:rPr>
              <a:t>Two transport protocols, both seen in one secure website visit</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4297680" cy="914400"/>
        </p:xfrm>
        <a:graphic>
          <a:graphicData uri="http://schemas.openxmlformats.org/drawingml/2006/table">
            <a:tbl>
              <a:tblPr/>
              <a:tblGrid>
                <a:gridCol w="1188720"/>
                <a:gridCol w="1554480"/>
                <a:gridCol w="155448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Feature</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solidFill>
                      <a:srgbClr val="1D6FA5"/>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TCP</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solidFill>
                      <a:srgbClr val="1D6FA5"/>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UDP</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solidFill>
                      <a:srgbClr val="1D6FA5"/>
                    </a:solidFill>
                  </a:tcPr>
                </a:tc>
              </a:tr>
              <a:tr h="0">
                <a:tc>
                  <a:txBody>
                    <a:bodyPr/>
                    <a:lstStyle/>
                    <a:p>
                      <a:pPr indent="0" marL="0">
                        <a:buNone/>
                      </a:pPr>
                      <a:r>
                        <a:rPr lang="en-US" sz="1000" b="1" dirty="0">
                          <a:solidFill>
                            <a:srgbClr val="2B2B2B"/>
                          </a:solidFill>
                          <a:latin typeface="Calibri" pitchFamily="34" charset="0"/>
                          <a:ea typeface="Calibri" pitchFamily="34" charset="-122"/>
                          <a:cs typeface="Calibri" pitchFamily="34" charset="-120"/>
                        </a:rPr>
                        <a:t>Connection</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Handshake first</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None, sends at once</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1000" b="1" dirty="0">
                          <a:solidFill>
                            <a:srgbClr val="2B2B2B"/>
                          </a:solidFill>
                          <a:latin typeface="Calibri" pitchFamily="34" charset="0"/>
                          <a:ea typeface="Calibri" pitchFamily="34" charset="-122"/>
                          <a:cs typeface="Calibri" pitchFamily="34" charset="-120"/>
                        </a:rPr>
                        <a:t>Reliability</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ACKs + retransmission</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No guarantee</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1000" b="1" dirty="0">
                          <a:solidFill>
                            <a:srgbClr val="2B2B2B"/>
                          </a:solidFill>
                          <a:latin typeface="Calibri" pitchFamily="34" charset="0"/>
                          <a:ea typeface="Calibri" pitchFamily="34" charset="-122"/>
                          <a:cs typeface="Calibri" pitchFamily="34" charset="-120"/>
                        </a:rPr>
                        <a:t>Ordering</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Sequence numbers</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No ordering</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1000" b="1" dirty="0">
                          <a:solidFill>
                            <a:srgbClr val="2B2B2B"/>
                          </a:solidFill>
                          <a:latin typeface="Calibri" pitchFamily="34" charset="0"/>
                          <a:ea typeface="Calibri" pitchFamily="34" charset="-122"/>
                          <a:cs typeface="Calibri" pitchFamily="34" charset="-120"/>
                        </a:rPr>
                        <a:t>Header / PDU</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20+ bytes / segment</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8 bytes / datagram</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1000" b="1" dirty="0">
                          <a:solidFill>
                            <a:srgbClr val="2B2B2B"/>
                          </a:solidFill>
                          <a:latin typeface="Calibri" pitchFamily="34" charset="0"/>
                          <a:ea typeface="Calibri" pitchFamily="34" charset="-122"/>
                          <a:cs typeface="Calibri" pitchFamily="34" charset="-120"/>
                        </a:rPr>
                        <a:t>Speed</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Slower, more overhead</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Fast, low overhead</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1000" b="1" dirty="0">
                          <a:solidFill>
                            <a:srgbClr val="2B2B2B"/>
                          </a:solidFill>
                          <a:latin typeface="Calibri" pitchFamily="34" charset="0"/>
                          <a:ea typeface="Calibri" pitchFamily="34" charset="-122"/>
                          <a:cs typeface="Calibri" pitchFamily="34" charset="-120"/>
                        </a:rPr>
                        <a:t>In my capture</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HTTPS, port 443</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DNS, port 53</a:t>
                      </a:r>
                      <a:endParaRPr lang="en-US" sz="10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bl>
          </a:graphicData>
        </a:graphic>
      </p:graphicFrame>
      <p:pic>
        <p:nvPicPr>
          <p:cNvPr id="8" name="Image 0" descr="img/s1_0.png">    </p:cNvPr>
          <p:cNvPicPr>
            <a:picLocks noChangeAspect="1"/>
          </p:cNvPicPr>
          <p:nvPr/>
        </p:nvPicPr>
        <p:blipFill>
          <a:blip r:embed="rId1"/>
          <a:stretch>
            <a:fillRect/>
          </a:stretch>
        </p:blipFill>
        <p:spPr>
          <a:xfrm>
            <a:off x="4937760" y="1143000"/>
            <a:ext cx="3749040" cy="1643737"/>
          </a:xfrm>
          <a:prstGeom prst="rect">
            <a:avLst/>
          </a:prstGeom>
        </p:spPr>
      </p:pic>
      <p:sp>
        <p:nvSpPr>
          <p:cNvPr id="9" name="Text 5"/>
          <p:cNvSpPr txBox="1"/>
          <p:nvPr/>
        </p:nvSpPr>
        <p:spPr>
          <a:xfrm>
            <a:off x="4937760" y="2832457"/>
            <a:ext cx="3749040" cy="274320"/>
          </a:xfrm>
          <a:prstGeom prst="rect">
            <a:avLst/>
          </a:prstGeom>
          <a:noFill/>
          <a:ln/>
        </p:spPr>
        <p:txBody>
          <a:bodyPr wrap="square" lIns="0" tIns="0" rIns="0" bIns="0" rtlCol="0" anchor="t"/>
          <a:lstStyle/>
          <a:p>
            <a:pPr indent="0" marL="0">
              <a:buNone/>
            </a:pPr>
            <a:r>
              <a:rPr lang="en-US" sz="900" i="1" dirty="0">
                <a:solidFill>
                  <a:srgbClr val="2B2B2B"/>
                </a:solidFill>
                <a:latin typeface="Calibri" pitchFamily="34" charset="0"/>
                <a:ea typeface="Calibri" pitchFamily="34" charset="-122"/>
                <a:cs typeface="Calibri" pitchFamily="34" charset="-120"/>
              </a:rPr>
              <a:t>UDP: DNS query, source port 57452 to port 53, length 31</a:t>
            </a:r>
            <a:endParaRPr lang="en-US" sz="900" dirty="0"/>
          </a:p>
        </p:txBody>
      </p:sp>
      <p:sp>
        <p:nvSpPr>
          <p:cNvPr id="10" name="Shape 6"/>
          <p:cNvSpPr/>
          <p:nvPr/>
        </p:nvSpPr>
        <p:spPr>
          <a:xfrm>
            <a:off x="457200" y="3429000"/>
            <a:ext cx="2103120" cy="1097280"/>
          </a:xfrm>
          <a:prstGeom prst="roundRect">
            <a:avLst>
              <a:gd name="adj" fmla="val 6667"/>
            </a:avLst>
          </a:prstGeom>
          <a:solidFill>
            <a:srgbClr val="EAF2F8"/>
          </a:solidFill>
          <a:ln w="12700">
            <a:solidFill>
              <a:srgbClr val="EAF2F8"/>
            </a:solidFill>
            <a:prstDash val="solid"/>
          </a:ln>
        </p:spPr>
      </p:sp>
      <p:sp>
        <p:nvSpPr>
          <p:cNvPr id="11" name="Text 7"/>
          <p:cNvSpPr txBox="1"/>
          <p:nvPr/>
        </p:nvSpPr>
        <p:spPr>
          <a:xfrm>
            <a:off x="594360" y="3520440"/>
            <a:ext cx="1828800" cy="914400"/>
          </a:xfrm>
          <a:prstGeom prst="rect">
            <a:avLst/>
          </a:prstGeom>
          <a:noFill/>
          <a:ln/>
        </p:spPr>
        <p:txBody>
          <a:bodyPr wrap="square" lIns="0" tIns="0" rIns="0" bIns="0" rtlCol="0" anchor="t"/>
          <a:lstStyle/>
          <a:p>
            <a:pPr indent="0" marL="0">
              <a:buNone/>
            </a:pPr>
            <a:r>
              <a:rPr lang="en-US" sz="2600" b="1" dirty="0">
                <a:solidFill>
                  <a:srgbClr val="1D6FA5"/>
                </a:solidFill>
                <a:latin typeface="Calibri" pitchFamily="34" charset="0"/>
                <a:ea typeface="Calibri" pitchFamily="34" charset="-122"/>
                <a:cs typeface="Calibri" pitchFamily="34" charset="-120"/>
              </a:rPr>
              <a:t>58.3%</a:t>
            </a:r>
            <a:endParaRPr lang="en-US" sz="1100" dirty="0"/>
          </a:p>
          <a:p>
            <a:pPr indent="0" marL="0">
              <a:buNone/>
            </a:pPr>
            <a:r>
              <a:rPr lang="en-US" sz="1000" dirty="0">
                <a:solidFill>
                  <a:srgbClr val="2B2B2B"/>
                </a:solidFill>
                <a:latin typeface="Calibri" pitchFamily="34" charset="0"/>
                <a:ea typeface="Calibri" pitchFamily="34" charset="-122"/>
                <a:cs typeface="Calibri" pitchFamily="34" charset="-120"/>
              </a:rPr>
              <a:t>packets were TCP (HTTPS/TLS)</a:t>
            </a:r>
            <a:endParaRPr lang="en-US" sz="1100" dirty="0"/>
          </a:p>
        </p:txBody>
      </p:sp>
      <p:sp>
        <p:nvSpPr>
          <p:cNvPr id="12" name="Shape 8"/>
          <p:cNvSpPr/>
          <p:nvPr/>
        </p:nvSpPr>
        <p:spPr>
          <a:xfrm>
            <a:off x="2743200" y="3429000"/>
            <a:ext cx="2011680" cy="1097280"/>
          </a:xfrm>
          <a:prstGeom prst="roundRect">
            <a:avLst>
              <a:gd name="adj" fmla="val 6667"/>
            </a:avLst>
          </a:prstGeom>
          <a:solidFill>
            <a:srgbClr val="EAF2F8"/>
          </a:solidFill>
          <a:ln w="12700">
            <a:solidFill>
              <a:srgbClr val="EAF2F8"/>
            </a:solidFill>
            <a:prstDash val="solid"/>
          </a:ln>
        </p:spPr>
      </p:sp>
      <p:sp>
        <p:nvSpPr>
          <p:cNvPr id="13" name="Text 9"/>
          <p:cNvSpPr txBox="1"/>
          <p:nvPr/>
        </p:nvSpPr>
        <p:spPr>
          <a:xfrm>
            <a:off x="2880360" y="3520440"/>
            <a:ext cx="1783080" cy="914400"/>
          </a:xfrm>
          <a:prstGeom prst="rect">
            <a:avLst/>
          </a:prstGeom>
          <a:noFill/>
          <a:ln/>
        </p:spPr>
        <p:txBody>
          <a:bodyPr wrap="square" lIns="0" tIns="0" rIns="0" bIns="0" rtlCol="0" anchor="t"/>
          <a:lstStyle/>
          <a:p>
            <a:pPr indent="0" marL="0">
              <a:buNone/>
            </a:pPr>
            <a:r>
              <a:rPr lang="en-US" sz="2600" b="1" dirty="0">
                <a:solidFill>
                  <a:srgbClr val="C8641E"/>
                </a:solidFill>
                <a:latin typeface="Calibri" pitchFamily="34" charset="0"/>
                <a:ea typeface="Calibri" pitchFamily="34" charset="-122"/>
                <a:cs typeface="Calibri" pitchFamily="34" charset="-120"/>
              </a:rPr>
              <a:t>3.1%</a:t>
            </a:r>
            <a:endParaRPr lang="en-US" sz="1100" dirty="0"/>
          </a:p>
          <a:p>
            <a:pPr indent="0" marL="0">
              <a:buNone/>
            </a:pPr>
            <a:r>
              <a:rPr lang="en-US" sz="1000" dirty="0">
                <a:solidFill>
                  <a:srgbClr val="2B2B2B"/>
                </a:solidFill>
                <a:latin typeface="Calibri" pitchFamily="34" charset="0"/>
                <a:ea typeface="Calibri" pitchFamily="34" charset="-122"/>
                <a:cs typeface="Calibri" pitchFamily="34" charset="-120"/>
              </a:rPr>
              <a:t>packets were UDP (DNS)</a:t>
            </a:r>
            <a:endParaRPr lang="en-US" sz="1100" dirty="0"/>
          </a:p>
        </p:txBody>
      </p:sp>
      <p:sp>
        <p:nvSpPr>
          <p:cNvPr id="14" name="Text 10"/>
          <p:cNvSpPr txBox="1"/>
          <p:nvPr/>
        </p:nvSpPr>
        <p:spPr>
          <a:xfrm>
            <a:off x="4937760" y="3520440"/>
            <a:ext cx="3749040" cy="82296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TCP session to 172.66.0.227:443: SYN, SYN-ACK, ACK, then TLS Client Hello (SNI = x.com).</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6675120" cy="502920"/>
          </a:xfrm>
          <a:prstGeom prst="rect">
            <a:avLst/>
          </a:prstGeom>
          <a:noFill/>
          <a:ln/>
        </p:spPr>
        <p:txBody>
          <a:bodyPr wrap="square" lIns="0" tIns="0" rIns="0" bIns="0" rtlCol="0" anchor="ctr"/>
          <a:lstStyle/>
          <a:p>
            <a:pPr indent="0" marL="0">
              <a:buNone/>
            </a:pPr>
            <a:r>
              <a:rPr lang="en-US" sz="2400" b="1" dirty="0">
                <a:solidFill>
                  <a:srgbClr val="0B2545"/>
                </a:solidFill>
                <a:latin typeface="Calibri" pitchFamily="34" charset="0"/>
                <a:ea typeface="Calibri" pitchFamily="34" charset="-122"/>
                <a:cs typeface="Calibri" pitchFamily="34" charset="-120"/>
              </a:rPr>
              <a:t>Application examples</a:t>
            </a:r>
            <a:endParaRPr lang="en-US" sz="2400" dirty="0"/>
          </a:p>
        </p:txBody>
      </p:sp>
      <p:sp>
        <p:nvSpPr>
          <p:cNvPr id="3" name="Text 1"/>
          <p:cNvSpPr txBox="1"/>
          <p:nvPr/>
        </p:nvSpPr>
        <p:spPr>
          <a:xfrm>
            <a:off x="6675120" y="274320"/>
            <a:ext cx="2011680" cy="411480"/>
          </a:xfrm>
          <a:prstGeom prst="rect">
            <a:avLst/>
          </a:prstGeom>
          <a:noFill/>
          <a:ln/>
        </p:spPr>
        <p:txBody>
          <a:bodyPr wrap="square" lIns="0" tIns="0" rIns="0" bIns="0" rtlCol="0" anchor="ctr"/>
          <a:lstStyle/>
          <a:p>
            <a:pPr algn="r" indent="0" marL="0">
              <a:buNone/>
            </a:pPr>
            <a:r>
              <a:rPr lang="en-US" sz="1000" dirty="0">
                <a:solidFill>
                  <a:srgbClr val="1D6FA5"/>
                </a:solidFill>
                <a:latin typeface="Calibri" pitchFamily="34" charset="0"/>
                <a:ea typeface="Calibri" pitchFamily="34" charset="-122"/>
                <a:cs typeface="Calibri" pitchFamily="34" charset="-120"/>
              </a:rPr>
              <a:t>Samina Parveen</a:t>
            </a:r>
            <a:endParaRPr lang="en-US" sz="1000" dirty="0"/>
          </a:p>
        </p:txBody>
      </p:sp>
      <p:sp>
        <p:nvSpPr>
          <p:cNvPr id="4" name="Text 2"/>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800" dirty="0">
                <a:solidFill>
                  <a:srgbClr val="707070"/>
                </a:solidFill>
                <a:latin typeface="Calibri" pitchFamily="34" charset="0"/>
                <a:ea typeface="Calibri" pitchFamily="34" charset="-122"/>
                <a:cs typeface="Calibri" pitchFamily="34" charset="-120"/>
              </a:rPr>
              <a:t>TEAM-08  |  TCP/IP Communication in Action   |   Evidence: Samina's capture</a:t>
            </a:r>
            <a:endParaRPr lang="en-US" sz="800" dirty="0"/>
          </a:p>
        </p:txBody>
      </p:sp>
      <p:sp>
        <p:nvSpPr>
          <p:cNvPr id="5" name="Text 3"/>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707070"/>
                </a:solidFill>
                <a:latin typeface="Calibri" pitchFamily="34" charset="0"/>
                <a:ea typeface="Calibri" pitchFamily="34" charset="-122"/>
                <a:cs typeface="Calibri" pitchFamily="34" charset="-120"/>
              </a:rPr>
              <a:t>9</a:t>
            </a:r>
            <a:endParaRPr lang="en-US" sz="800" dirty="0"/>
          </a:p>
        </p:txBody>
      </p:sp>
      <p:sp>
        <p:nvSpPr>
          <p:cNvPr id="6" name="Text 4"/>
          <p:cNvSpPr txBox="1"/>
          <p:nvPr/>
        </p:nvSpPr>
        <p:spPr>
          <a:xfrm>
            <a:off x="457200" y="777240"/>
            <a:ext cx="8229600" cy="274320"/>
          </a:xfrm>
          <a:prstGeom prst="rect">
            <a:avLst/>
          </a:prstGeom>
          <a:noFill/>
          <a:ln/>
        </p:spPr>
        <p:txBody>
          <a:bodyPr wrap="square" lIns="0" tIns="0" rIns="0" bIns="0" rtlCol="0" anchor="t"/>
          <a:lstStyle/>
          <a:p>
            <a:pPr indent="0" marL="0">
              <a:buNone/>
            </a:pPr>
            <a:r>
              <a:rPr lang="en-US" sz="1200" i="1" dirty="0">
                <a:solidFill>
                  <a:srgbClr val="1D6FA5"/>
                </a:solidFill>
                <a:latin typeface="Calibri" pitchFamily="34" charset="0"/>
                <a:ea typeface="Calibri" pitchFamily="34" charset="-122"/>
                <a:cs typeface="Calibri" pitchFamily="34" charset="-120"/>
              </a:rPr>
              <a:t>The right protocol depends on what the application can tolerate</a:t>
            </a:r>
            <a:endParaRPr lang="en-US" sz="1200" dirty="0"/>
          </a:p>
        </p:txBody>
      </p:sp>
      <p:sp>
        <p:nvSpPr>
          <p:cNvPr id="7" name="Shape 5"/>
          <p:cNvSpPr/>
          <p:nvPr/>
        </p:nvSpPr>
        <p:spPr>
          <a:xfrm>
            <a:off x="457200" y="1188720"/>
            <a:ext cx="4023360" cy="3383280"/>
          </a:xfrm>
          <a:prstGeom prst="roundRect">
            <a:avLst>
              <a:gd name="adj" fmla="val 2162"/>
            </a:avLst>
          </a:prstGeom>
          <a:solidFill>
            <a:srgbClr val="EAF2F8"/>
          </a:solidFill>
          <a:ln w="12700">
            <a:solidFill>
              <a:srgbClr val="EAF2F8"/>
            </a:solidFill>
            <a:prstDash val="solid"/>
          </a:ln>
        </p:spPr>
      </p:sp>
      <p:sp>
        <p:nvSpPr>
          <p:cNvPr id="8" name="Shape 6"/>
          <p:cNvSpPr/>
          <p:nvPr/>
        </p:nvSpPr>
        <p:spPr>
          <a:xfrm>
            <a:off x="457200" y="1188720"/>
            <a:ext cx="4023360" cy="548640"/>
          </a:xfrm>
          <a:prstGeom prst="roundRect">
            <a:avLst>
              <a:gd name="adj" fmla="val 13333"/>
            </a:avLst>
          </a:prstGeom>
          <a:solidFill>
            <a:srgbClr val="0B2545"/>
          </a:solidFill>
          <a:ln w="12700">
            <a:solidFill>
              <a:srgbClr val="0B2545"/>
            </a:solidFill>
            <a:prstDash val="solid"/>
          </a:ln>
        </p:spPr>
      </p:sp>
      <p:sp>
        <p:nvSpPr>
          <p:cNvPr id="9" name="Text 7"/>
          <p:cNvSpPr txBox="1"/>
          <p:nvPr/>
        </p:nvSpPr>
        <p:spPr>
          <a:xfrm>
            <a:off x="594360" y="1188720"/>
            <a:ext cx="374904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TCP  ·  Reliability first</a:t>
            </a:r>
            <a:endParaRPr lang="en-US" sz="1500" dirty="0"/>
          </a:p>
        </p:txBody>
      </p:sp>
      <p:sp>
        <p:nvSpPr>
          <p:cNvPr id="10" name="Text 8"/>
          <p:cNvSpPr txBox="1"/>
          <p:nvPr/>
        </p:nvSpPr>
        <p:spPr>
          <a:xfrm>
            <a:off x="640080" y="1874520"/>
            <a:ext cx="3657600" cy="2651760"/>
          </a:xfrm>
          <a:prstGeom prst="rect">
            <a:avLst/>
          </a:prstGeom>
          <a:noFill/>
          <a:ln/>
        </p:spPr>
        <p:txBody>
          <a:bodyPr wrap="square" lIns="0" tIns="0" rIns="0" bIns="0" rtlCol="0" anchor="t"/>
          <a:lstStyle/>
          <a:p>
            <a:pPr indent="0" marL="0">
              <a:buNone/>
            </a:pPr>
            <a:r>
              <a:rPr lang="en-US" sz="1200" b="1" dirty="0">
                <a:solidFill>
                  <a:srgbClr val="2B2B2B"/>
                </a:solidFill>
                <a:latin typeface="Calibri" pitchFamily="34" charset="0"/>
                <a:ea typeface="Calibri" pitchFamily="34" charset="-122"/>
                <a:cs typeface="Calibri" pitchFamily="34" charset="-120"/>
              </a:rPr>
              <a:t>Secure web (HTTPS, 443)</a:t>
            </a:r>
            <a:endParaRPr lang="en-US" sz="1200" dirty="0"/>
          </a:p>
          <a:p>
            <a:pPr indent="0" marL="0">
              <a:spcAft>
                <a:spcPts val="800"/>
              </a:spcAft>
              <a:buNone/>
            </a:pPr>
            <a:r>
              <a:rPr lang="en-US" sz="1200" dirty="0">
                <a:solidFill>
                  <a:srgbClr val="555555"/>
                </a:solidFill>
                <a:latin typeface="Calibri" pitchFamily="34" charset="0"/>
                <a:ea typeface="Calibri" pitchFamily="34" charset="-122"/>
                <a:cs typeface="Calibri" pitchFamily="34" charset="-120"/>
              </a:rPr>
              <a:t>every byte must arrive in order</a:t>
            </a:r>
            <a:endParaRPr lang="en-US" sz="1200" dirty="0"/>
          </a:p>
          <a:p>
            <a:pPr indent="0" marL="0">
              <a:buNone/>
            </a:pPr>
            <a:r>
              <a:rPr lang="en-US" sz="1200" b="1" dirty="0">
                <a:solidFill>
                  <a:srgbClr val="2B2B2B"/>
                </a:solidFill>
                <a:latin typeface="Calibri" pitchFamily="34" charset="0"/>
                <a:ea typeface="Calibri" pitchFamily="34" charset="-122"/>
                <a:cs typeface="Calibri" pitchFamily="34" charset="-120"/>
              </a:rPr>
              <a:t>Email (SMTP, IMAP)</a:t>
            </a:r>
            <a:endParaRPr lang="en-US" sz="1200" dirty="0"/>
          </a:p>
          <a:p>
            <a:pPr indent="0" marL="0">
              <a:spcAft>
                <a:spcPts val="800"/>
              </a:spcAft>
              <a:buNone/>
            </a:pPr>
            <a:r>
              <a:rPr lang="en-US" sz="1200" dirty="0">
                <a:solidFill>
                  <a:srgbClr val="555555"/>
                </a:solidFill>
                <a:latin typeface="Calibri" pitchFamily="34" charset="0"/>
                <a:ea typeface="Calibri" pitchFamily="34" charset="-122"/>
                <a:cs typeface="Calibri" pitchFamily="34" charset="-120"/>
              </a:rPr>
              <a:t>messages must not be lost</a:t>
            </a:r>
            <a:endParaRPr lang="en-US" sz="1200" dirty="0"/>
          </a:p>
          <a:p>
            <a:pPr indent="0" marL="0">
              <a:buNone/>
            </a:pPr>
            <a:r>
              <a:rPr lang="en-US" sz="1200" b="1" dirty="0">
                <a:solidFill>
                  <a:srgbClr val="2B2B2B"/>
                </a:solidFill>
                <a:latin typeface="Calibri" pitchFamily="34" charset="0"/>
                <a:ea typeface="Calibri" pitchFamily="34" charset="-122"/>
                <a:cs typeface="Calibri" pitchFamily="34" charset="-120"/>
              </a:rPr>
              <a:t>File transfer (FTP, SFTP)</a:t>
            </a:r>
            <a:endParaRPr lang="en-US" sz="1200" dirty="0"/>
          </a:p>
          <a:p>
            <a:pPr indent="0" marL="0">
              <a:spcAft>
                <a:spcPts val="800"/>
              </a:spcAft>
              <a:buNone/>
            </a:pPr>
            <a:r>
              <a:rPr lang="en-US" sz="1200" dirty="0">
                <a:solidFill>
                  <a:srgbClr val="555555"/>
                </a:solidFill>
                <a:latin typeface="Calibri" pitchFamily="34" charset="0"/>
                <a:ea typeface="Calibri" pitchFamily="34" charset="-122"/>
                <a:cs typeface="Calibri" pitchFamily="34" charset="-120"/>
              </a:rPr>
              <a:t>one missing block corrupts the file</a:t>
            </a:r>
            <a:endParaRPr lang="en-US" sz="1200" dirty="0"/>
          </a:p>
          <a:p>
            <a:pPr indent="0" marL="0">
              <a:buNone/>
            </a:pPr>
            <a:r>
              <a:rPr lang="en-US" sz="1200" b="1" dirty="0">
                <a:solidFill>
                  <a:srgbClr val="2B2B2B"/>
                </a:solidFill>
                <a:latin typeface="Calibri" pitchFamily="34" charset="0"/>
                <a:ea typeface="Calibri" pitchFamily="34" charset="-122"/>
                <a:cs typeface="Calibri" pitchFamily="34" charset="-120"/>
              </a:rPr>
              <a:t>Remote access (SSH, RDP)</a:t>
            </a:r>
            <a:endParaRPr lang="en-US" sz="1200" dirty="0"/>
          </a:p>
          <a:p>
            <a:pPr indent="0" marL="0">
              <a:spcAft>
                <a:spcPts val="800"/>
              </a:spcAft>
              <a:buNone/>
            </a:pPr>
            <a:r>
              <a:rPr lang="en-US" sz="1200" dirty="0">
                <a:solidFill>
                  <a:srgbClr val="555555"/>
                </a:solidFill>
                <a:latin typeface="Calibri" pitchFamily="34" charset="0"/>
                <a:ea typeface="Calibri" pitchFamily="34" charset="-122"/>
                <a:cs typeface="Calibri" pitchFamily="34" charset="-120"/>
              </a:rPr>
              <a:t>commands must be exact</a:t>
            </a:r>
            <a:endParaRPr lang="en-US" sz="1200" dirty="0"/>
          </a:p>
        </p:txBody>
      </p:sp>
      <p:sp>
        <p:nvSpPr>
          <p:cNvPr id="11" name="Shape 9"/>
          <p:cNvSpPr/>
          <p:nvPr/>
        </p:nvSpPr>
        <p:spPr>
          <a:xfrm>
            <a:off x="4663440" y="1188720"/>
            <a:ext cx="4023360" cy="3383280"/>
          </a:xfrm>
          <a:prstGeom prst="roundRect">
            <a:avLst>
              <a:gd name="adj" fmla="val 2162"/>
            </a:avLst>
          </a:prstGeom>
          <a:solidFill>
            <a:srgbClr val="EAF2F8"/>
          </a:solidFill>
          <a:ln w="12700">
            <a:solidFill>
              <a:srgbClr val="EAF2F8"/>
            </a:solidFill>
            <a:prstDash val="solid"/>
          </a:ln>
        </p:spPr>
      </p:sp>
      <p:sp>
        <p:nvSpPr>
          <p:cNvPr id="12" name="Shape 10"/>
          <p:cNvSpPr/>
          <p:nvPr/>
        </p:nvSpPr>
        <p:spPr>
          <a:xfrm>
            <a:off x="4663440" y="1188720"/>
            <a:ext cx="4023360" cy="548640"/>
          </a:xfrm>
          <a:prstGeom prst="roundRect">
            <a:avLst>
              <a:gd name="adj" fmla="val 13333"/>
            </a:avLst>
          </a:prstGeom>
          <a:solidFill>
            <a:srgbClr val="1D6FA5"/>
          </a:solidFill>
          <a:ln w="12700">
            <a:solidFill>
              <a:srgbClr val="1D6FA5"/>
            </a:solidFill>
            <a:prstDash val="solid"/>
          </a:ln>
        </p:spPr>
      </p:sp>
      <p:sp>
        <p:nvSpPr>
          <p:cNvPr id="13" name="Text 11"/>
          <p:cNvSpPr txBox="1"/>
          <p:nvPr/>
        </p:nvSpPr>
        <p:spPr>
          <a:xfrm>
            <a:off x="4800600" y="1188720"/>
            <a:ext cx="374904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UDP  ·  Speed first</a:t>
            </a:r>
            <a:endParaRPr lang="en-US" sz="1500" dirty="0"/>
          </a:p>
        </p:txBody>
      </p:sp>
      <p:sp>
        <p:nvSpPr>
          <p:cNvPr id="14" name="Text 12"/>
          <p:cNvSpPr txBox="1"/>
          <p:nvPr/>
        </p:nvSpPr>
        <p:spPr>
          <a:xfrm>
            <a:off x="4846320" y="1874520"/>
            <a:ext cx="3657600" cy="2651760"/>
          </a:xfrm>
          <a:prstGeom prst="rect">
            <a:avLst/>
          </a:prstGeom>
          <a:noFill/>
          <a:ln/>
        </p:spPr>
        <p:txBody>
          <a:bodyPr wrap="square" lIns="0" tIns="0" rIns="0" bIns="0" rtlCol="0" anchor="t"/>
          <a:lstStyle/>
          <a:p>
            <a:pPr indent="0" marL="0">
              <a:buNone/>
            </a:pPr>
            <a:r>
              <a:rPr lang="en-US" sz="1200" b="1" dirty="0">
                <a:solidFill>
                  <a:srgbClr val="2B2B2B"/>
                </a:solidFill>
                <a:latin typeface="Calibri" pitchFamily="34" charset="0"/>
                <a:ea typeface="Calibri" pitchFamily="34" charset="-122"/>
                <a:cs typeface="Calibri" pitchFamily="34" charset="-120"/>
              </a:rPr>
              <a:t>DNS lookups (53)</a:t>
            </a:r>
            <a:endParaRPr lang="en-US" sz="1200" dirty="0"/>
          </a:p>
          <a:p>
            <a:pPr indent="0" marL="0">
              <a:spcAft>
                <a:spcPts val="800"/>
              </a:spcAft>
              <a:buNone/>
            </a:pPr>
            <a:r>
              <a:rPr lang="en-US" sz="1200" dirty="0">
                <a:solidFill>
                  <a:srgbClr val="555555"/>
                </a:solidFill>
                <a:latin typeface="Calibri" pitchFamily="34" charset="0"/>
                <a:ea typeface="Calibri" pitchFamily="34" charset="-122"/>
                <a:cs typeface="Calibri" pitchFamily="34" charset="-120"/>
              </a:rPr>
              <a:t>one small question, one small answer</a:t>
            </a:r>
            <a:endParaRPr lang="en-US" sz="1200" dirty="0"/>
          </a:p>
          <a:p>
            <a:pPr indent="0" marL="0">
              <a:buNone/>
            </a:pPr>
            <a:r>
              <a:rPr lang="en-US" sz="1200" b="1" dirty="0">
                <a:solidFill>
                  <a:srgbClr val="2B2B2B"/>
                </a:solidFill>
                <a:latin typeface="Calibri" pitchFamily="34" charset="0"/>
                <a:ea typeface="Calibri" pitchFamily="34" charset="-122"/>
                <a:cs typeface="Calibri" pitchFamily="34" charset="-120"/>
              </a:rPr>
              <a:t>Video meetings, VoIP</a:t>
            </a:r>
            <a:endParaRPr lang="en-US" sz="1200" dirty="0"/>
          </a:p>
          <a:p>
            <a:pPr indent="0" marL="0">
              <a:spcAft>
                <a:spcPts val="800"/>
              </a:spcAft>
              <a:buNone/>
            </a:pPr>
            <a:r>
              <a:rPr lang="en-US" sz="1200" dirty="0">
                <a:solidFill>
                  <a:srgbClr val="555555"/>
                </a:solidFill>
                <a:latin typeface="Calibri" pitchFamily="34" charset="0"/>
                <a:ea typeface="Calibri" pitchFamily="34" charset="-122"/>
                <a:cs typeface="Calibri" pitchFamily="34" charset="-120"/>
              </a:rPr>
              <a:t>a late packet is useless</a:t>
            </a:r>
            <a:endParaRPr lang="en-US" sz="1200" dirty="0"/>
          </a:p>
          <a:p>
            <a:pPr indent="0" marL="0">
              <a:buNone/>
            </a:pPr>
            <a:r>
              <a:rPr lang="en-US" sz="1200" b="1" dirty="0">
                <a:solidFill>
                  <a:srgbClr val="2B2B2B"/>
                </a:solidFill>
                <a:latin typeface="Calibri" pitchFamily="34" charset="0"/>
                <a:ea typeface="Calibri" pitchFamily="34" charset="-122"/>
                <a:cs typeface="Calibri" pitchFamily="34" charset="-120"/>
              </a:rPr>
              <a:t>Live streaming, gaming</a:t>
            </a:r>
            <a:endParaRPr lang="en-US" sz="1200" dirty="0"/>
          </a:p>
          <a:p>
            <a:pPr indent="0" marL="0">
              <a:spcAft>
                <a:spcPts val="800"/>
              </a:spcAft>
              <a:buNone/>
            </a:pPr>
            <a:r>
              <a:rPr lang="en-US" sz="1200" dirty="0">
                <a:solidFill>
                  <a:srgbClr val="555555"/>
                </a:solidFill>
                <a:latin typeface="Calibri" pitchFamily="34" charset="0"/>
                <a:ea typeface="Calibri" pitchFamily="34" charset="-122"/>
                <a:cs typeface="Calibri" pitchFamily="34" charset="-120"/>
              </a:rPr>
              <a:t>current data beats retransmission</a:t>
            </a:r>
            <a:endParaRPr lang="en-US" sz="1200" dirty="0"/>
          </a:p>
          <a:p>
            <a:pPr indent="0" marL="0">
              <a:buNone/>
            </a:pPr>
            <a:r>
              <a:rPr lang="en-US" sz="1200" b="1" dirty="0">
                <a:solidFill>
                  <a:srgbClr val="2B2B2B"/>
                </a:solidFill>
                <a:latin typeface="Calibri" pitchFamily="34" charset="0"/>
                <a:ea typeface="Calibri" pitchFamily="34" charset="-122"/>
                <a:cs typeface="Calibri" pitchFamily="34" charset="-120"/>
              </a:rPr>
              <a:t>DHCP, NTP</a:t>
            </a:r>
            <a:endParaRPr lang="en-US" sz="1200" dirty="0"/>
          </a:p>
          <a:p>
            <a:pPr indent="0" marL="0">
              <a:spcAft>
                <a:spcPts val="800"/>
              </a:spcAft>
              <a:buNone/>
            </a:pPr>
            <a:r>
              <a:rPr lang="en-US" sz="1200" dirty="0">
                <a:solidFill>
                  <a:srgbClr val="555555"/>
                </a:solidFill>
                <a:latin typeface="Calibri" pitchFamily="34" charset="0"/>
                <a:ea typeface="Calibri" pitchFamily="34" charset="-122"/>
                <a:cs typeface="Calibri" pitchFamily="34" charset="-120"/>
              </a:rPr>
              <a:t>short request and reply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6675120" cy="502920"/>
          </a:xfrm>
          <a:prstGeom prst="rect">
            <a:avLst/>
          </a:prstGeom>
          <a:noFill/>
          <a:ln/>
        </p:spPr>
        <p:txBody>
          <a:bodyPr wrap="square" lIns="0" tIns="0" rIns="0" bIns="0" rtlCol="0" anchor="ctr"/>
          <a:lstStyle/>
          <a:p>
            <a:pPr indent="0" marL="0">
              <a:buNone/>
            </a:pPr>
            <a:r>
              <a:rPr lang="en-US" sz="2400" b="1" dirty="0">
                <a:solidFill>
                  <a:srgbClr val="0B2545"/>
                </a:solidFill>
                <a:latin typeface="Calibri" pitchFamily="34" charset="0"/>
                <a:ea typeface="Calibri" pitchFamily="34" charset="-122"/>
                <a:cs typeface="Calibri" pitchFamily="34" charset="-120"/>
              </a:rPr>
              <a:t>Communication failure: DNS not responding</a:t>
            </a:r>
            <a:endParaRPr lang="en-US" sz="2400" dirty="0"/>
          </a:p>
        </p:txBody>
      </p:sp>
      <p:sp>
        <p:nvSpPr>
          <p:cNvPr id="3" name="Text 1"/>
          <p:cNvSpPr txBox="1"/>
          <p:nvPr/>
        </p:nvSpPr>
        <p:spPr>
          <a:xfrm>
            <a:off x="6675120" y="274320"/>
            <a:ext cx="2011680" cy="411480"/>
          </a:xfrm>
          <a:prstGeom prst="rect">
            <a:avLst/>
          </a:prstGeom>
          <a:noFill/>
          <a:ln/>
        </p:spPr>
        <p:txBody>
          <a:bodyPr wrap="square" lIns="0" tIns="0" rIns="0" bIns="0" rtlCol="0" anchor="ctr"/>
          <a:lstStyle/>
          <a:p>
            <a:pPr algn="r" indent="0" marL="0">
              <a:buNone/>
            </a:pPr>
            <a:r>
              <a:rPr lang="en-US" sz="1000" dirty="0">
                <a:solidFill>
                  <a:srgbClr val="1D6FA5"/>
                </a:solidFill>
                <a:latin typeface="Calibri" pitchFamily="34" charset="0"/>
                <a:ea typeface="Calibri" pitchFamily="34" charset="-122"/>
                <a:cs typeface="Calibri" pitchFamily="34" charset="-120"/>
              </a:rPr>
              <a:t>Samina Parveen</a:t>
            </a:r>
            <a:endParaRPr lang="en-US" sz="1000" dirty="0"/>
          </a:p>
        </p:txBody>
      </p:sp>
      <p:sp>
        <p:nvSpPr>
          <p:cNvPr id="4" name="Text 2"/>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800" dirty="0">
                <a:solidFill>
                  <a:srgbClr val="707070"/>
                </a:solidFill>
                <a:latin typeface="Calibri" pitchFamily="34" charset="0"/>
                <a:ea typeface="Calibri" pitchFamily="34" charset="-122"/>
                <a:cs typeface="Calibri" pitchFamily="34" charset="-120"/>
              </a:rPr>
              <a:t>TEAM-08  |  TCP/IP Communication in Action   |   Evidence: Samina's capture</a:t>
            </a:r>
            <a:endParaRPr lang="en-US" sz="800" dirty="0"/>
          </a:p>
        </p:txBody>
      </p:sp>
      <p:sp>
        <p:nvSpPr>
          <p:cNvPr id="5" name="Text 3"/>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707070"/>
                </a:solidFill>
                <a:latin typeface="Calibri" pitchFamily="34" charset="0"/>
                <a:ea typeface="Calibri" pitchFamily="34" charset="-122"/>
                <a:cs typeface="Calibri" pitchFamily="34" charset="-120"/>
              </a:rPr>
              <a:t>10</a:t>
            </a:r>
            <a:endParaRPr lang="en-US" sz="800" dirty="0"/>
          </a:p>
        </p:txBody>
      </p:sp>
      <p:sp>
        <p:nvSpPr>
          <p:cNvPr id="6" name="Text 4"/>
          <p:cNvSpPr txBox="1"/>
          <p:nvPr/>
        </p:nvSpPr>
        <p:spPr>
          <a:xfrm>
            <a:off x="457200" y="777240"/>
            <a:ext cx="8229600" cy="274320"/>
          </a:xfrm>
          <a:prstGeom prst="rect">
            <a:avLst/>
          </a:prstGeom>
          <a:noFill/>
          <a:ln/>
        </p:spPr>
        <p:txBody>
          <a:bodyPr wrap="square" lIns="0" tIns="0" rIns="0" bIns="0" rtlCol="0" anchor="t"/>
          <a:lstStyle/>
          <a:p>
            <a:pPr indent="0" marL="0">
              <a:buNone/>
            </a:pPr>
            <a:r>
              <a:rPr lang="en-US" sz="1200" i="1" dirty="0">
                <a:solidFill>
                  <a:srgbClr val="1D6FA5"/>
                </a:solidFill>
                <a:latin typeface="Calibri" pitchFamily="34" charset="0"/>
                <a:ea typeface="Calibri" pitchFamily="34" charset="-122"/>
                <a:cs typeface="Calibri" pitchFamily="34" charset="-120"/>
              </a:rPr>
              <a:t>Website cannot be opened, but the network is healthy</a:t>
            </a:r>
            <a:endParaRPr lang="en-US" sz="1200" dirty="0"/>
          </a:p>
        </p:txBody>
      </p:sp>
      <p:sp>
        <p:nvSpPr>
          <p:cNvPr id="7" name="Text 5"/>
          <p:cNvSpPr txBox="1"/>
          <p:nvPr/>
        </p:nvSpPr>
        <p:spPr>
          <a:xfrm>
            <a:off x="457200" y="1188720"/>
            <a:ext cx="3383280" cy="2560320"/>
          </a:xfrm>
          <a:prstGeom prst="rect">
            <a:avLst/>
          </a:prstGeom>
          <a:noFill/>
          <a:ln/>
        </p:spPr>
        <p:txBody>
          <a:bodyPr wrap="square" lIns="0" tIns="0" rIns="0" bIns="0" rtlCol="0" anchor="t"/>
          <a:lstStyle/>
          <a:p>
            <a:pPr indent="0" marL="0">
              <a:buNone/>
            </a:pPr>
            <a:r>
              <a:rPr lang="en-US" sz="1100" b="1" dirty="0">
                <a:solidFill>
                  <a:srgbClr val="0B2545"/>
                </a:solidFill>
                <a:latin typeface="Calibri" pitchFamily="34" charset="0"/>
                <a:ea typeface="Calibri" pitchFamily="34" charset="-122"/>
                <a:cs typeface="Calibri" pitchFamily="34" charset="-120"/>
              </a:rPr>
              <a:t>Symptom: </a:t>
            </a:r>
            <a:pPr indent="0" marL="0">
              <a:spcAft>
                <a:spcPts val="700"/>
              </a:spcAft>
              <a:buNone/>
            </a:pPr>
            <a:r>
              <a:rPr lang="en-US" sz="1100" dirty="0">
                <a:solidFill>
                  <a:srgbClr val="2B2B2B"/>
                </a:solidFill>
                <a:latin typeface="Calibri" pitchFamily="34" charset="0"/>
                <a:ea typeface="Calibri" pitchFamily="34" charset="-122"/>
                <a:cs typeface="Calibri" pitchFamily="34" charset="-120"/>
              </a:rPr>
              <a:t>"Could not resolve host: x.com"</a:t>
            </a:r>
            <a:endParaRPr lang="en-US" sz="1100" dirty="0"/>
          </a:p>
          <a:p>
            <a:pPr indent="0" marL="0">
              <a:buNone/>
            </a:pPr>
            <a:r>
              <a:rPr lang="en-US" sz="1100" b="1" dirty="0">
                <a:solidFill>
                  <a:srgbClr val="0B2545"/>
                </a:solidFill>
                <a:latin typeface="Calibri" pitchFamily="34" charset="0"/>
                <a:ea typeface="Calibri" pitchFamily="34" charset="-122"/>
                <a:cs typeface="Calibri" pitchFamily="34" charset="-120"/>
              </a:rPr>
              <a:t>Cause: </a:t>
            </a:r>
            <a:pPr indent="0" marL="0">
              <a:spcAft>
                <a:spcPts val="700"/>
              </a:spcAft>
              <a:buNone/>
            </a:pPr>
            <a:r>
              <a:rPr lang="en-US" sz="1100" dirty="0">
                <a:solidFill>
                  <a:srgbClr val="2B2B2B"/>
                </a:solidFill>
                <a:latin typeface="Calibri" pitchFamily="34" charset="0"/>
                <a:ea typeface="Calibri" pitchFamily="34" charset="-122"/>
                <a:cs typeface="Calibri" pitchFamily="34" charset="-120"/>
              </a:rPr>
              <a:t>DNS server set to 192.0.2.1, where nothing answers</a:t>
            </a:r>
            <a:endParaRPr lang="en-US" sz="1100" dirty="0"/>
          </a:p>
          <a:p>
            <a:pPr indent="0" marL="0">
              <a:buNone/>
            </a:pPr>
            <a:r>
              <a:rPr lang="en-US" sz="1100" b="1" dirty="0">
                <a:solidFill>
                  <a:srgbClr val="0B2545"/>
                </a:solidFill>
                <a:latin typeface="Calibri" pitchFamily="34" charset="0"/>
                <a:ea typeface="Calibri" pitchFamily="34" charset="-122"/>
                <a:cs typeface="Calibri" pitchFamily="34" charset="-120"/>
              </a:rPr>
              <a:t>Layer: </a:t>
            </a:r>
            <a:pPr indent="0" marL="0">
              <a:spcAft>
                <a:spcPts val="700"/>
              </a:spcAft>
              <a:buNone/>
            </a:pPr>
            <a:r>
              <a:rPr lang="en-US" sz="1100" dirty="0">
                <a:solidFill>
                  <a:srgbClr val="2B2B2B"/>
                </a:solidFill>
                <a:latin typeface="Calibri" pitchFamily="34" charset="0"/>
                <a:ea typeface="Calibri" pitchFamily="34" charset="-122"/>
                <a:cs typeface="Calibri" pitchFamily="34" charset="-120"/>
              </a:rPr>
              <a:t>Application (DNS over UDP port 53)</a:t>
            </a:r>
            <a:endParaRPr lang="en-US" sz="1100" dirty="0"/>
          </a:p>
          <a:p>
            <a:pPr indent="0" marL="0">
              <a:buNone/>
            </a:pPr>
            <a:r>
              <a:rPr lang="en-US" sz="1100" b="1" dirty="0">
                <a:solidFill>
                  <a:srgbClr val="0B2545"/>
                </a:solidFill>
                <a:latin typeface="Calibri" pitchFamily="34" charset="0"/>
                <a:ea typeface="Calibri" pitchFamily="34" charset="-122"/>
                <a:cs typeface="Calibri" pitchFamily="34" charset="-120"/>
              </a:rPr>
              <a:t>Key clue: </a:t>
            </a:r>
            <a:pPr indent="0" marL="0">
              <a:spcAft>
                <a:spcPts val="700"/>
              </a:spcAft>
              <a:buNone/>
            </a:pPr>
            <a:r>
              <a:rPr lang="en-US" sz="1100" dirty="0">
                <a:solidFill>
                  <a:srgbClr val="2B2B2B"/>
                </a:solidFill>
                <a:latin typeface="Calibri" pitchFamily="34" charset="0"/>
                <a:ea typeface="Calibri" pitchFamily="34" charset="-122"/>
                <a:cs typeface="Calibri" pitchFamily="34" charset="-120"/>
              </a:rPr>
              <a:t>ping 8.8.8.8 still works, so IP and routing are fine</a:t>
            </a:r>
            <a:endParaRPr lang="en-US" sz="1100" dirty="0"/>
          </a:p>
          <a:p>
            <a:pPr indent="0" marL="0">
              <a:buNone/>
            </a:pPr>
            <a:r>
              <a:rPr lang="en-US" sz="1100" b="1" dirty="0">
                <a:solidFill>
                  <a:srgbClr val="0B2545"/>
                </a:solidFill>
                <a:latin typeface="Calibri" pitchFamily="34" charset="0"/>
                <a:ea typeface="Calibri" pitchFamily="34" charset="-122"/>
                <a:cs typeface="Calibri" pitchFamily="34" charset="-120"/>
              </a:rPr>
              <a:t>Wireshark: </a:t>
            </a:r>
            <a:pPr indent="0" marL="0">
              <a:spcAft>
                <a:spcPts val="700"/>
              </a:spcAft>
              <a:buNone/>
            </a:pPr>
            <a:r>
              <a:rPr lang="en-US" sz="1100" dirty="0">
                <a:solidFill>
                  <a:srgbClr val="2B2B2B"/>
                </a:solidFill>
                <a:latin typeface="Calibri" pitchFamily="34" charset="0"/>
                <a:ea typeface="Calibri" pitchFamily="34" charset="-122"/>
                <a:cs typeface="Calibri" pitchFamily="34" charset="-120"/>
              </a:rPr>
              <a:t>repeated DNS queries to 192.0.2.1, no reply</a:t>
            </a:r>
            <a:endParaRPr lang="en-US" sz="1100" dirty="0"/>
          </a:p>
        </p:txBody>
      </p:sp>
      <p:pic>
        <p:nvPicPr>
          <p:cNvPr id="8" name="Image 0" descr="img/s3_0.png">    </p:cNvPr>
          <p:cNvPicPr>
            <a:picLocks noChangeAspect="1"/>
          </p:cNvPicPr>
          <p:nvPr/>
        </p:nvPicPr>
        <p:blipFill>
          <a:blip r:embed="rId1"/>
          <a:stretch>
            <a:fillRect/>
          </a:stretch>
        </p:blipFill>
        <p:spPr>
          <a:xfrm>
            <a:off x="4023360" y="1188720"/>
            <a:ext cx="4663440" cy="757257"/>
          </a:xfrm>
          <a:prstGeom prst="rect">
            <a:avLst/>
          </a:prstGeom>
        </p:spPr>
      </p:pic>
      <p:pic>
        <p:nvPicPr>
          <p:cNvPr id="9" name="Image 1" descr="img/s3_1.png">    </p:cNvPr>
          <p:cNvPicPr>
            <a:picLocks noChangeAspect="1"/>
          </p:cNvPicPr>
          <p:nvPr/>
        </p:nvPicPr>
        <p:blipFill>
          <a:blip r:embed="rId2"/>
          <a:stretch>
            <a:fillRect/>
          </a:stretch>
        </p:blipFill>
        <p:spPr>
          <a:xfrm>
            <a:off x="4023360" y="2083137"/>
            <a:ext cx="4663440" cy="1009726"/>
          </a:xfrm>
          <a:prstGeom prst="rect">
            <a:avLst/>
          </a:prstGeom>
        </p:spPr>
      </p:pic>
      <p:sp>
        <p:nvSpPr>
          <p:cNvPr id="10" name="Shape 6"/>
          <p:cNvSpPr/>
          <p:nvPr/>
        </p:nvSpPr>
        <p:spPr>
          <a:xfrm>
            <a:off x="457200" y="3931920"/>
            <a:ext cx="8229600" cy="685800"/>
          </a:xfrm>
          <a:prstGeom prst="roundRect">
            <a:avLst>
              <a:gd name="adj" fmla="val 10667"/>
            </a:avLst>
          </a:prstGeom>
          <a:solidFill>
            <a:srgbClr val="FDF1E7"/>
          </a:solidFill>
          <a:ln w="12700">
            <a:solidFill>
              <a:srgbClr val="FDF1E7"/>
            </a:solidFill>
            <a:prstDash val="solid"/>
          </a:ln>
        </p:spPr>
      </p:sp>
      <p:sp>
        <p:nvSpPr>
          <p:cNvPr id="11" name="Text 7"/>
          <p:cNvSpPr txBox="1"/>
          <p:nvPr/>
        </p:nvSpPr>
        <p:spPr>
          <a:xfrm>
            <a:off x="640080" y="3931920"/>
            <a:ext cx="7863840" cy="685800"/>
          </a:xfrm>
          <a:prstGeom prst="rect">
            <a:avLst/>
          </a:prstGeom>
          <a:noFill/>
          <a:ln/>
        </p:spPr>
        <p:txBody>
          <a:bodyPr wrap="square" lIns="0" tIns="0" rIns="0" bIns="0" rtlCol="0" anchor="ctr"/>
          <a:lstStyle/>
          <a:p>
            <a:pPr indent="0" marL="0">
              <a:buNone/>
            </a:pPr>
            <a:r>
              <a:rPr lang="en-US" sz="1100" dirty="0">
                <a:solidFill>
                  <a:srgbClr val="2B2B2B"/>
                </a:solidFill>
                <a:latin typeface="Calibri" pitchFamily="34" charset="0"/>
                <a:ea typeface="Calibri" pitchFamily="34" charset="-122"/>
                <a:cs typeface="Calibri" pitchFamily="34" charset="-120"/>
              </a:rPr>
              <a:t>Second test, port 444 blocked: SYN sent and retransmitted 4 times, never answered. A firewall is likely dropping it.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6675120" cy="502920"/>
          </a:xfrm>
          <a:prstGeom prst="rect">
            <a:avLst/>
          </a:prstGeom>
          <a:noFill/>
          <a:ln/>
        </p:spPr>
        <p:txBody>
          <a:bodyPr wrap="square" lIns="0" tIns="0" rIns="0" bIns="0" rtlCol="0" anchor="ctr"/>
          <a:lstStyle/>
          <a:p>
            <a:pPr indent="0" marL="0">
              <a:buNone/>
            </a:pPr>
            <a:r>
              <a:rPr lang="en-US" sz="2400" b="1" dirty="0">
                <a:solidFill>
                  <a:srgbClr val="0B2545"/>
                </a:solidFill>
                <a:latin typeface="Calibri" pitchFamily="34" charset="0"/>
                <a:ea typeface="Calibri" pitchFamily="34" charset="-122"/>
                <a:cs typeface="Calibri" pitchFamily="34" charset="-120"/>
              </a:rPr>
              <a:t>Troubleshooting procedure</a:t>
            </a:r>
            <a:endParaRPr lang="en-US" sz="2400" dirty="0"/>
          </a:p>
        </p:txBody>
      </p:sp>
      <p:sp>
        <p:nvSpPr>
          <p:cNvPr id="3" name="Text 1"/>
          <p:cNvSpPr txBox="1"/>
          <p:nvPr/>
        </p:nvSpPr>
        <p:spPr>
          <a:xfrm>
            <a:off x="6675120" y="274320"/>
            <a:ext cx="2011680" cy="411480"/>
          </a:xfrm>
          <a:prstGeom prst="rect">
            <a:avLst/>
          </a:prstGeom>
          <a:noFill/>
          <a:ln/>
        </p:spPr>
        <p:txBody>
          <a:bodyPr wrap="square" lIns="0" tIns="0" rIns="0" bIns="0" rtlCol="0" anchor="ctr"/>
          <a:lstStyle/>
          <a:p>
            <a:pPr algn="r" indent="0" marL="0">
              <a:buNone/>
            </a:pPr>
            <a:r>
              <a:rPr lang="en-US" sz="1000" dirty="0">
                <a:solidFill>
                  <a:srgbClr val="1D6FA5"/>
                </a:solidFill>
                <a:latin typeface="Calibri" pitchFamily="34" charset="0"/>
                <a:ea typeface="Calibri" pitchFamily="34" charset="-122"/>
                <a:cs typeface="Calibri" pitchFamily="34" charset="-120"/>
              </a:rPr>
              <a:t>Samina Parveen</a:t>
            </a:r>
            <a:endParaRPr lang="en-US" sz="1000" dirty="0"/>
          </a:p>
        </p:txBody>
      </p:sp>
      <p:sp>
        <p:nvSpPr>
          <p:cNvPr id="4" name="Text 2"/>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800" dirty="0">
                <a:solidFill>
                  <a:srgbClr val="707070"/>
                </a:solidFill>
                <a:latin typeface="Calibri" pitchFamily="34" charset="0"/>
                <a:ea typeface="Calibri" pitchFamily="34" charset="-122"/>
                <a:cs typeface="Calibri" pitchFamily="34" charset="-120"/>
              </a:rPr>
              <a:t>TEAM-08  |  TCP/IP Communication in Action   |   Evidence: Samina's capture</a:t>
            </a:r>
            <a:endParaRPr lang="en-US" sz="800" dirty="0"/>
          </a:p>
        </p:txBody>
      </p:sp>
      <p:sp>
        <p:nvSpPr>
          <p:cNvPr id="5" name="Text 3"/>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707070"/>
                </a:solidFill>
                <a:latin typeface="Calibri" pitchFamily="34" charset="0"/>
                <a:ea typeface="Calibri" pitchFamily="34" charset="-122"/>
                <a:cs typeface="Calibri" pitchFamily="34" charset="-120"/>
              </a:rPr>
              <a:t>11</a:t>
            </a:r>
            <a:endParaRPr lang="en-US" sz="800" dirty="0"/>
          </a:p>
        </p:txBody>
      </p:sp>
      <p:sp>
        <p:nvSpPr>
          <p:cNvPr id="6" name="Text 4"/>
          <p:cNvSpPr txBox="1"/>
          <p:nvPr/>
        </p:nvSpPr>
        <p:spPr>
          <a:xfrm>
            <a:off x="457200" y="777240"/>
            <a:ext cx="8229600" cy="274320"/>
          </a:xfrm>
          <a:prstGeom prst="rect">
            <a:avLst/>
          </a:prstGeom>
          <a:noFill/>
          <a:ln/>
        </p:spPr>
        <p:txBody>
          <a:bodyPr wrap="square" lIns="0" tIns="0" rIns="0" bIns="0" rtlCol="0" anchor="t"/>
          <a:lstStyle/>
          <a:p>
            <a:pPr indent="0" marL="0">
              <a:buNone/>
            </a:pPr>
            <a:r>
              <a:rPr lang="en-US" sz="1200" i="1" dirty="0">
                <a:solidFill>
                  <a:srgbClr val="1D6FA5"/>
                </a:solidFill>
                <a:latin typeface="Calibri" pitchFamily="34" charset="0"/>
                <a:ea typeface="Calibri" pitchFamily="34" charset="-122"/>
                <a:cs typeface="Calibri" pitchFamily="34" charset="-120"/>
              </a:rPr>
              <a:t>Bottom-up: test one layer at a time, then fix and verify</a:t>
            </a:r>
            <a:endParaRPr lang="en-US" sz="1200" dirty="0"/>
          </a:p>
        </p:txBody>
      </p:sp>
      <p:sp>
        <p:nvSpPr>
          <p:cNvPr id="7" name="Shape 5"/>
          <p:cNvSpPr/>
          <p:nvPr/>
        </p:nvSpPr>
        <p:spPr>
          <a:xfrm>
            <a:off x="457200" y="1188720"/>
            <a:ext cx="2651760" cy="1280160"/>
          </a:xfrm>
          <a:prstGeom prst="roundRect">
            <a:avLst>
              <a:gd name="adj" fmla="val 5714"/>
            </a:avLst>
          </a:prstGeom>
          <a:solidFill>
            <a:srgbClr val="EAF2F8"/>
          </a:solidFill>
          <a:ln w="12700">
            <a:solidFill>
              <a:srgbClr val="EAF2F8"/>
            </a:solidFill>
            <a:prstDash val="solid"/>
          </a:ln>
        </p:spPr>
      </p:sp>
      <p:sp>
        <p:nvSpPr>
          <p:cNvPr id="8" name="Shape 6"/>
          <p:cNvSpPr/>
          <p:nvPr/>
        </p:nvSpPr>
        <p:spPr>
          <a:xfrm>
            <a:off x="566928" y="1298448"/>
            <a:ext cx="384048" cy="384048"/>
          </a:xfrm>
          <a:prstGeom prst="ellipse">
            <a:avLst/>
          </a:prstGeom>
          <a:solidFill>
            <a:srgbClr val="C8641E"/>
          </a:solidFill>
          <a:ln w="12700">
            <a:solidFill>
              <a:srgbClr val="C8641E"/>
            </a:solidFill>
            <a:prstDash val="solid"/>
          </a:ln>
        </p:spPr>
      </p:sp>
      <p:sp>
        <p:nvSpPr>
          <p:cNvPr id="9" name="Text 7"/>
          <p:cNvSpPr txBox="1"/>
          <p:nvPr/>
        </p:nvSpPr>
        <p:spPr>
          <a:xfrm>
            <a:off x="566928" y="12984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1051560" y="1298448"/>
            <a:ext cx="1965960" cy="1097280"/>
          </a:xfrm>
          <a:prstGeom prst="rect">
            <a:avLst/>
          </a:prstGeom>
          <a:noFill/>
          <a:ln/>
        </p:spPr>
        <p:txBody>
          <a:bodyPr wrap="square" lIns="0" tIns="0" rIns="0" bIns="0" rtlCol="0" anchor="t"/>
          <a:lstStyle/>
          <a:p>
            <a:pPr indent="0" marL="0">
              <a:spcAft>
                <a:spcPts val="400"/>
              </a:spcAft>
              <a:buNone/>
            </a:pPr>
            <a:r>
              <a:rPr lang="en-US" sz="1100" b="1" dirty="0">
                <a:solidFill>
                  <a:srgbClr val="0B2545"/>
                </a:solidFill>
                <a:latin typeface="Calibri" pitchFamily="34" charset="0"/>
                <a:ea typeface="Calibri" pitchFamily="34" charset="-122"/>
                <a:cs typeface="Calibri" pitchFamily="34" charset="-120"/>
              </a:rPr>
              <a:t>Record the symptom</a:t>
            </a:r>
            <a:endParaRPr lang="en-US" sz="1100" dirty="0"/>
          </a:p>
          <a:p>
            <a:pPr indent="0" marL="0">
              <a:buNone/>
            </a:pPr>
            <a:r>
              <a:rPr lang="en-US" sz="1100" dirty="0">
                <a:solidFill>
                  <a:srgbClr val="2B2B2B"/>
                </a:solidFill>
                <a:latin typeface="Calibri" pitchFamily="34" charset="0"/>
                <a:ea typeface="Calibri" pitchFamily="34" charset="-122"/>
                <a:cs typeface="Calibri" pitchFamily="34" charset="-120"/>
              </a:rPr>
              <a:t>Website fails with "Could not resolve host"</a:t>
            </a:r>
            <a:endParaRPr lang="en-US" sz="1100" dirty="0"/>
          </a:p>
        </p:txBody>
      </p:sp>
      <p:sp>
        <p:nvSpPr>
          <p:cNvPr id="11" name="Shape 9"/>
          <p:cNvSpPr/>
          <p:nvPr/>
        </p:nvSpPr>
        <p:spPr>
          <a:xfrm>
            <a:off x="3246120" y="1188720"/>
            <a:ext cx="2651760" cy="1280160"/>
          </a:xfrm>
          <a:prstGeom prst="roundRect">
            <a:avLst>
              <a:gd name="adj" fmla="val 5714"/>
            </a:avLst>
          </a:prstGeom>
          <a:solidFill>
            <a:srgbClr val="EAF2F8"/>
          </a:solidFill>
          <a:ln w="12700">
            <a:solidFill>
              <a:srgbClr val="EAF2F8"/>
            </a:solidFill>
            <a:prstDash val="solid"/>
          </a:ln>
        </p:spPr>
      </p:sp>
      <p:sp>
        <p:nvSpPr>
          <p:cNvPr id="12" name="Shape 10"/>
          <p:cNvSpPr/>
          <p:nvPr/>
        </p:nvSpPr>
        <p:spPr>
          <a:xfrm>
            <a:off x="3355848" y="1298448"/>
            <a:ext cx="384048" cy="384048"/>
          </a:xfrm>
          <a:prstGeom prst="ellipse">
            <a:avLst/>
          </a:prstGeom>
          <a:solidFill>
            <a:srgbClr val="C8641E"/>
          </a:solidFill>
          <a:ln w="12700">
            <a:solidFill>
              <a:srgbClr val="C8641E"/>
            </a:solidFill>
            <a:prstDash val="solid"/>
          </a:ln>
        </p:spPr>
      </p:sp>
      <p:sp>
        <p:nvSpPr>
          <p:cNvPr id="13" name="Text 11"/>
          <p:cNvSpPr txBox="1"/>
          <p:nvPr/>
        </p:nvSpPr>
        <p:spPr>
          <a:xfrm>
            <a:off x="3355848" y="12984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3840480" y="1298448"/>
            <a:ext cx="1965960" cy="1097280"/>
          </a:xfrm>
          <a:prstGeom prst="rect">
            <a:avLst/>
          </a:prstGeom>
          <a:noFill/>
          <a:ln/>
        </p:spPr>
        <p:txBody>
          <a:bodyPr wrap="square" lIns="0" tIns="0" rIns="0" bIns="0" rtlCol="0" anchor="t"/>
          <a:lstStyle/>
          <a:p>
            <a:pPr indent="0" marL="0">
              <a:spcAft>
                <a:spcPts val="400"/>
              </a:spcAft>
              <a:buNone/>
            </a:pPr>
            <a:r>
              <a:rPr lang="en-US" sz="1100" b="1" dirty="0">
                <a:solidFill>
                  <a:srgbClr val="0B2545"/>
                </a:solidFill>
                <a:latin typeface="Calibri" pitchFamily="34" charset="0"/>
                <a:ea typeface="Calibri" pitchFamily="34" charset="-122"/>
                <a:cs typeface="Calibri" pitchFamily="34" charset="-120"/>
              </a:rPr>
              <a:t>ping 8.8.8.8</a:t>
            </a:r>
            <a:endParaRPr lang="en-US" sz="1100" dirty="0"/>
          </a:p>
          <a:p>
            <a:pPr indent="0" marL="0">
              <a:buNone/>
            </a:pPr>
            <a:r>
              <a:rPr lang="en-US" sz="1100" dirty="0">
                <a:solidFill>
                  <a:srgbClr val="2B2B2B"/>
                </a:solidFill>
                <a:latin typeface="Calibri" pitchFamily="34" charset="0"/>
                <a:ea typeface="Calibri" pitchFamily="34" charset="-122"/>
                <a:cs typeface="Calibri" pitchFamily="34" charset="-120"/>
              </a:rPr>
              <a:t>Replies: internet and routing work</a:t>
            </a:r>
            <a:endParaRPr lang="en-US" sz="1100" dirty="0"/>
          </a:p>
        </p:txBody>
      </p:sp>
      <p:sp>
        <p:nvSpPr>
          <p:cNvPr id="15" name="Shape 13"/>
          <p:cNvSpPr/>
          <p:nvPr/>
        </p:nvSpPr>
        <p:spPr>
          <a:xfrm>
            <a:off x="6035040" y="1188720"/>
            <a:ext cx="2651760" cy="1280160"/>
          </a:xfrm>
          <a:prstGeom prst="roundRect">
            <a:avLst>
              <a:gd name="adj" fmla="val 5714"/>
            </a:avLst>
          </a:prstGeom>
          <a:solidFill>
            <a:srgbClr val="EAF2F8"/>
          </a:solidFill>
          <a:ln w="12700">
            <a:solidFill>
              <a:srgbClr val="EAF2F8"/>
            </a:solidFill>
            <a:prstDash val="solid"/>
          </a:ln>
        </p:spPr>
      </p:sp>
      <p:sp>
        <p:nvSpPr>
          <p:cNvPr id="16" name="Shape 14"/>
          <p:cNvSpPr/>
          <p:nvPr/>
        </p:nvSpPr>
        <p:spPr>
          <a:xfrm>
            <a:off x="6144768" y="1298448"/>
            <a:ext cx="384048" cy="384048"/>
          </a:xfrm>
          <a:prstGeom prst="ellipse">
            <a:avLst/>
          </a:prstGeom>
          <a:solidFill>
            <a:srgbClr val="C8641E"/>
          </a:solidFill>
          <a:ln w="12700">
            <a:solidFill>
              <a:srgbClr val="C8641E"/>
            </a:solidFill>
            <a:prstDash val="solid"/>
          </a:ln>
        </p:spPr>
      </p:sp>
      <p:sp>
        <p:nvSpPr>
          <p:cNvPr id="17" name="Text 15"/>
          <p:cNvSpPr txBox="1"/>
          <p:nvPr/>
        </p:nvSpPr>
        <p:spPr>
          <a:xfrm>
            <a:off x="6144768" y="12984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6629400" y="1298448"/>
            <a:ext cx="1965960" cy="1097280"/>
          </a:xfrm>
          <a:prstGeom prst="rect">
            <a:avLst/>
          </a:prstGeom>
          <a:noFill/>
          <a:ln/>
        </p:spPr>
        <p:txBody>
          <a:bodyPr wrap="square" lIns="0" tIns="0" rIns="0" bIns="0" rtlCol="0" anchor="t"/>
          <a:lstStyle/>
          <a:p>
            <a:pPr indent="0" marL="0">
              <a:spcAft>
                <a:spcPts val="400"/>
              </a:spcAft>
              <a:buNone/>
            </a:pPr>
            <a:r>
              <a:rPr lang="en-US" sz="1100" b="1" dirty="0">
                <a:solidFill>
                  <a:srgbClr val="0B2545"/>
                </a:solidFill>
                <a:latin typeface="Calibri" pitchFamily="34" charset="0"/>
                <a:ea typeface="Calibri" pitchFamily="34" charset="-122"/>
                <a:cs typeface="Calibri" pitchFamily="34" charset="-120"/>
              </a:rPr>
              <a:t>nslookup x.com</a:t>
            </a:r>
            <a:endParaRPr lang="en-US" sz="1100" dirty="0"/>
          </a:p>
          <a:p>
            <a:pPr indent="0" marL="0">
              <a:buNone/>
            </a:pPr>
            <a:r>
              <a:rPr lang="en-US" sz="1100" dirty="0">
                <a:solidFill>
                  <a:srgbClr val="2B2B2B"/>
                </a:solidFill>
                <a:latin typeface="Calibri" pitchFamily="34" charset="0"/>
                <a:ea typeface="Calibri" pitchFamily="34" charset="-122"/>
                <a:cs typeface="Calibri" pitchFamily="34" charset="-120"/>
              </a:rPr>
              <a:t>Fails: name resolution is the fault</a:t>
            </a:r>
            <a:endParaRPr lang="en-US" sz="1100" dirty="0"/>
          </a:p>
        </p:txBody>
      </p:sp>
      <p:sp>
        <p:nvSpPr>
          <p:cNvPr id="19" name="Shape 17"/>
          <p:cNvSpPr/>
          <p:nvPr/>
        </p:nvSpPr>
        <p:spPr>
          <a:xfrm>
            <a:off x="457200" y="2606040"/>
            <a:ext cx="2651760" cy="1280160"/>
          </a:xfrm>
          <a:prstGeom prst="roundRect">
            <a:avLst>
              <a:gd name="adj" fmla="val 5714"/>
            </a:avLst>
          </a:prstGeom>
          <a:solidFill>
            <a:srgbClr val="EAF2F8"/>
          </a:solidFill>
          <a:ln w="12700">
            <a:solidFill>
              <a:srgbClr val="EAF2F8"/>
            </a:solidFill>
            <a:prstDash val="solid"/>
          </a:ln>
        </p:spPr>
      </p:sp>
      <p:sp>
        <p:nvSpPr>
          <p:cNvPr id="20" name="Shape 18"/>
          <p:cNvSpPr/>
          <p:nvPr/>
        </p:nvSpPr>
        <p:spPr>
          <a:xfrm>
            <a:off x="566928" y="2715768"/>
            <a:ext cx="384048" cy="384048"/>
          </a:xfrm>
          <a:prstGeom prst="ellipse">
            <a:avLst/>
          </a:prstGeom>
          <a:solidFill>
            <a:srgbClr val="C8641E"/>
          </a:solidFill>
          <a:ln w="12700">
            <a:solidFill>
              <a:srgbClr val="C8641E"/>
            </a:solidFill>
            <a:prstDash val="solid"/>
          </a:ln>
        </p:spPr>
      </p:sp>
      <p:sp>
        <p:nvSpPr>
          <p:cNvPr id="21" name="Text 19"/>
          <p:cNvSpPr txBox="1"/>
          <p:nvPr/>
        </p:nvSpPr>
        <p:spPr>
          <a:xfrm>
            <a:off x="566928" y="2715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1051560" y="2715768"/>
            <a:ext cx="1965960" cy="1097280"/>
          </a:xfrm>
          <a:prstGeom prst="rect">
            <a:avLst/>
          </a:prstGeom>
          <a:noFill/>
          <a:ln/>
        </p:spPr>
        <p:txBody>
          <a:bodyPr wrap="square" lIns="0" tIns="0" rIns="0" bIns="0" rtlCol="0" anchor="t"/>
          <a:lstStyle/>
          <a:p>
            <a:pPr indent="0" marL="0">
              <a:spcAft>
                <a:spcPts val="400"/>
              </a:spcAft>
              <a:buNone/>
            </a:pPr>
            <a:r>
              <a:rPr lang="en-US" sz="1100" b="1" dirty="0">
                <a:solidFill>
                  <a:srgbClr val="0B2545"/>
                </a:solidFill>
                <a:latin typeface="Calibri" pitchFamily="34" charset="0"/>
                <a:ea typeface="Calibri" pitchFamily="34" charset="-122"/>
                <a:cs typeface="Calibri" pitchFamily="34" charset="-120"/>
              </a:rPr>
              <a:t>ipconfig /all</a:t>
            </a:r>
            <a:endParaRPr lang="en-US" sz="1100" dirty="0"/>
          </a:p>
          <a:p>
            <a:pPr indent="0" marL="0">
              <a:buNone/>
            </a:pPr>
            <a:r>
              <a:rPr lang="en-US" sz="1100" dirty="0">
                <a:solidFill>
                  <a:srgbClr val="2B2B2B"/>
                </a:solidFill>
                <a:latin typeface="Calibri" pitchFamily="34" charset="0"/>
                <a:ea typeface="Calibri" pitchFamily="34" charset="-122"/>
                <a:cs typeface="Calibri" pitchFamily="34" charset="-120"/>
              </a:rPr>
              <a:t>DNS server is 192.0.2.1, not the router</a:t>
            </a:r>
            <a:endParaRPr lang="en-US" sz="1100" dirty="0"/>
          </a:p>
        </p:txBody>
      </p:sp>
      <p:sp>
        <p:nvSpPr>
          <p:cNvPr id="23" name="Shape 21"/>
          <p:cNvSpPr/>
          <p:nvPr/>
        </p:nvSpPr>
        <p:spPr>
          <a:xfrm>
            <a:off x="3246120" y="2606040"/>
            <a:ext cx="2651760" cy="1280160"/>
          </a:xfrm>
          <a:prstGeom prst="roundRect">
            <a:avLst>
              <a:gd name="adj" fmla="val 5714"/>
            </a:avLst>
          </a:prstGeom>
          <a:solidFill>
            <a:srgbClr val="EAF2F8"/>
          </a:solidFill>
          <a:ln w="12700">
            <a:solidFill>
              <a:srgbClr val="EAF2F8"/>
            </a:solidFill>
            <a:prstDash val="solid"/>
          </a:ln>
        </p:spPr>
      </p:sp>
      <p:sp>
        <p:nvSpPr>
          <p:cNvPr id="24" name="Shape 22"/>
          <p:cNvSpPr/>
          <p:nvPr/>
        </p:nvSpPr>
        <p:spPr>
          <a:xfrm>
            <a:off x="3355848" y="2715768"/>
            <a:ext cx="384048" cy="384048"/>
          </a:xfrm>
          <a:prstGeom prst="ellipse">
            <a:avLst/>
          </a:prstGeom>
          <a:solidFill>
            <a:srgbClr val="C8641E"/>
          </a:solidFill>
          <a:ln w="12700">
            <a:solidFill>
              <a:srgbClr val="C8641E"/>
            </a:solidFill>
            <a:prstDash val="solid"/>
          </a:ln>
        </p:spPr>
      </p:sp>
      <p:sp>
        <p:nvSpPr>
          <p:cNvPr id="25" name="Text 23"/>
          <p:cNvSpPr txBox="1"/>
          <p:nvPr/>
        </p:nvSpPr>
        <p:spPr>
          <a:xfrm>
            <a:off x="3355848" y="2715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4"/>
          <p:cNvSpPr txBox="1"/>
          <p:nvPr/>
        </p:nvSpPr>
        <p:spPr>
          <a:xfrm>
            <a:off x="3840480" y="2715768"/>
            <a:ext cx="1965960" cy="1097280"/>
          </a:xfrm>
          <a:prstGeom prst="rect">
            <a:avLst/>
          </a:prstGeom>
          <a:noFill/>
          <a:ln/>
        </p:spPr>
        <p:txBody>
          <a:bodyPr wrap="square" lIns="0" tIns="0" rIns="0" bIns="0" rtlCol="0" anchor="t"/>
          <a:lstStyle/>
          <a:p>
            <a:pPr indent="0" marL="0">
              <a:spcAft>
                <a:spcPts val="400"/>
              </a:spcAft>
              <a:buNone/>
            </a:pPr>
            <a:r>
              <a:rPr lang="en-US" sz="1100" b="1" dirty="0">
                <a:solidFill>
                  <a:srgbClr val="0B2545"/>
                </a:solidFill>
                <a:latin typeface="Calibri" pitchFamily="34" charset="0"/>
                <a:ea typeface="Calibri" pitchFamily="34" charset="-122"/>
                <a:cs typeface="Calibri" pitchFamily="34" charset="-120"/>
              </a:rPr>
              <a:t>Wireshark capture</a:t>
            </a:r>
            <a:endParaRPr lang="en-US" sz="1100" dirty="0"/>
          </a:p>
          <a:p>
            <a:pPr indent="0" marL="0">
              <a:buNone/>
            </a:pPr>
            <a:r>
              <a:rPr lang="en-US" sz="1100" dirty="0">
                <a:solidFill>
                  <a:srgbClr val="2B2B2B"/>
                </a:solidFill>
                <a:latin typeface="Calibri" pitchFamily="34" charset="0"/>
                <a:ea typeface="Calibri" pitchFamily="34" charset="-122"/>
                <a:cs typeface="Calibri" pitchFamily="34" charset="-120"/>
              </a:rPr>
              <a:t>DNS queries sent, no replies</a:t>
            </a:r>
            <a:endParaRPr lang="en-US" sz="1100" dirty="0"/>
          </a:p>
        </p:txBody>
      </p:sp>
      <p:sp>
        <p:nvSpPr>
          <p:cNvPr id="27" name="Shape 25"/>
          <p:cNvSpPr/>
          <p:nvPr/>
        </p:nvSpPr>
        <p:spPr>
          <a:xfrm>
            <a:off x="6035040" y="2606040"/>
            <a:ext cx="2651760" cy="1280160"/>
          </a:xfrm>
          <a:prstGeom prst="roundRect">
            <a:avLst>
              <a:gd name="adj" fmla="val 5714"/>
            </a:avLst>
          </a:prstGeom>
          <a:solidFill>
            <a:srgbClr val="EAF2F8"/>
          </a:solidFill>
          <a:ln w="12700">
            <a:solidFill>
              <a:srgbClr val="EAF2F8"/>
            </a:solidFill>
            <a:prstDash val="solid"/>
          </a:ln>
        </p:spPr>
      </p:sp>
      <p:sp>
        <p:nvSpPr>
          <p:cNvPr id="28" name="Shape 26"/>
          <p:cNvSpPr/>
          <p:nvPr/>
        </p:nvSpPr>
        <p:spPr>
          <a:xfrm>
            <a:off x="6144768" y="2715768"/>
            <a:ext cx="384048" cy="384048"/>
          </a:xfrm>
          <a:prstGeom prst="ellipse">
            <a:avLst/>
          </a:prstGeom>
          <a:solidFill>
            <a:srgbClr val="C8641E"/>
          </a:solidFill>
          <a:ln w="12700">
            <a:solidFill>
              <a:srgbClr val="C8641E"/>
            </a:solidFill>
            <a:prstDash val="solid"/>
          </a:ln>
        </p:spPr>
      </p:sp>
      <p:sp>
        <p:nvSpPr>
          <p:cNvPr id="29" name="Text 27"/>
          <p:cNvSpPr txBox="1"/>
          <p:nvPr/>
        </p:nvSpPr>
        <p:spPr>
          <a:xfrm>
            <a:off x="6144768" y="2715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0" name="Text 28"/>
          <p:cNvSpPr txBox="1"/>
          <p:nvPr/>
        </p:nvSpPr>
        <p:spPr>
          <a:xfrm>
            <a:off x="6629400" y="2715768"/>
            <a:ext cx="1965960" cy="1097280"/>
          </a:xfrm>
          <a:prstGeom prst="rect">
            <a:avLst/>
          </a:prstGeom>
          <a:noFill/>
          <a:ln/>
        </p:spPr>
        <p:txBody>
          <a:bodyPr wrap="square" lIns="0" tIns="0" rIns="0" bIns="0" rtlCol="0" anchor="t"/>
          <a:lstStyle/>
          <a:p>
            <a:pPr indent="0" marL="0">
              <a:spcAft>
                <a:spcPts val="400"/>
              </a:spcAft>
              <a:buNone/>
            </a:pPr>
            <a:r>
              <a:rPr lang="en-US" sz="1100" b="1" dirty="0">
                <a:solidFill>
                  <a:srgbClr val="0B2545"/>
                </a:solidFill>
                <a:latin typeface="Calibri" pitchFamily="34" charset="0"/>
                <a:ea typeface="Calibri" pitchFamily="34" charset="-122"/>
                <a:cs typeface="Calibri" pitchFamily="34" charset="-120"/>
              </a:rPr>
              <a:t>Fix and verify</a:t>
            </a:r>
            <a:endParaRPr lang="en-US" sz="1100" dirty="0"/>
          </a:p>
          <a:p>
            <a:pPr indent="0" marL="0">
              <a:buNone/>
            </a:pPr>
            <a:r>
              <a:rPr lang="en-US" sz="1100" dirty="0">
                <a:solidFill>
                  <a:srgbClr val="2B2B2B"/>
                </a:solidFill>
                <a:latin typeface="Calibri" pitchFamily="34" charset="0"/>
                <a:ea typeface="Calibri" pitchFamily="34" charset="-122"/>
                <a:cs typeface="Calibri" pitchFamily="34" charset="-120"/>
              </a:rPr>
              <a:t>Reset DNS to 192.168.1.1, flush cache, retest</a:t>
            </a:r>
            <a:endParaRPr lang="en-US" sz="1100" dirty="0"/>
          </a:p>
        </p:txBody>
      </p:sp>
      <p:sp>
        <p:nvSpPr>
          <p:cNvPr id="31" name="Text 29"/>
          <p:cNvSpPr txBox="1"/>
          <p:nvPr/>
        </p:nvSpPr>
        <p:spPr>
          <a:xfrm>
            <a:off x="457200" y="4114800"/>
            <a:ext cx="8229600" cy="457200"/>
          </a:xfrm>
          <a:prstGeom prst="rect">
            <a:avLst/>
          </a:prstGeom>
          <a:noFill/>
          <a:ln/>
        </p:spPr>
        <p:txBody>
          <a:bodyPr wrap="square" lIns="0" tIns="0" rIns="0" bIns="0" rtlCol="0" anchor="t"/>
          <a:lstStyle/>
          <a:p>
            <a:pPr indent="0" marL="0">
              <a:buNone/>
            </a:pPr>
            <a:r>
              <a:rPr lang="en-US" sz="1100" b="1" dirty="0">
                <a:solidFill>
                  <a:srgbClr val="1D6FA5"/>
                </a:solidFill>
                <a:latin typeface="Calibri" pitchFamily="34" charset="0"/>
                <a:ea typeface="Calibri" pitchFamily="34" charset="-122"/>
                <a:cs typeface="Calibri" pitchFamily="34" charset="-120"/>
              </a:rPr>
              <a:t>Verified: gateway ping, 8.8.8.8 ping, nslookup, port 443 test, tracert (8 hops), curl HTTP 200 OK</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6675120" cy="502920"/>
          </a:xfrm>
          <a:prstGeom prst="rect">
            <a:avLst/>
          </a:prstGeom>
          <a:noFill/>
          <a:ln/>
        </p:spPr>
        <p:txBody>
          <a:bodyPr wrap="square" lIns="0" tIns="0" rIns="0" bIns="0" rtlCol="0" anchor="ctr"/>
          <a:lstStyle/>
          <a:p>
            <a:pPr indent="0" marL="0">
              <a:buNone/>
            </a:pPr>
            <a:r>
              <a:rPr lang="en-US" sz="2400" b="1" dirty="0">
                <a:solidFill>
                  <a:srgbClr val="0B2545"/>
                </a:solidFill>
                <a:latin typeface="Calibri" pitchFamily="34" charset="0"/>
                <a:ea typeface="Calibri" pitchFamily="34" charset="-122"/>
                <a:cs typeface="Calibri" pitchFamily="34" charset="-120"/>
              </a:rPr>
              <a:t>Conclusion</a:t>
            </a:r>
            <a:endParaRPr lang="en-US" sz="2400" dirty="0"/>
          </a:p>
        </p:txBody>
      </p:sp>
      <p:sp>
        <p:nvSpPr>
          <p:cNvPr id="3" name="Text 1"/>
          <p:cNvSpPr txBox="1"/>
          <p:nvPr/>
        </p:nvSpPr>
        <p:spPr>
          <a:xfrm>
            <a:off x="6675120" y="274320"/>
            <a:ext cx="2011680" cy="411480"/>
          </a:xfrm>
          <a:prstGeom prst="rect">
            <a:avLst/>
          </a:prstGeom>
          <a:noFill/>
          <a:ln/>
        </p:spPr>
        <p:txBody>
          <a:bodyPr wrap="square" lIns="0" tIns="0" rIns="0" bIns="0" rtlCol="0" anchor="ctr"/>
          <a:lstStyle/>
          <a:p>
            <a:pPr algn="r" indent="0" marL="0">
              <a:buNone/>
            </a:pPr>
            <a:r>
              <a:rPr lang="en-US" sz="1000" dirty="0">
                <a:solidFill>
                  <a:srgbClr val="1D6FA5"/>
                </a:solidFill>
                <a:latin typeface="Calibri" pitchFamily="34" charset="0"/>
                <a:ea typeface="Calibri" pitchFamily="34" charset="-122"/>
                <a:cs typeface="Calibri" pitchFamily="34" charset="-120"/>
              </a:rPr>
              <a:t>Adeoti Suliat Adedamola</a:t>
            </a:r>
            <a:endParaRPr lang="en-US" sz="1000" dirty="0"/>
          </a:p>
        </p:txBody>
      </p:sp>
      <p:sp>
        <p:nvSpPr>
          <p:cNvPr id="4" name="Text 2"/>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800" dirty="0">
                <a:solidFill>
                  <a:srgbClr val="707070"/>
                </a:solidFill>
                <a:latin typeface="Calibri" pitchFamily="34" charset="0"/>
                <a:ea typeface="Calibri" pitchFamily="34" charset="-122"/>
                <a:cs typeface="Calibri" pitchFamily="34" charset="-120"/>
              </a:rPr>
              <a:t>TEAM-08  |  TCP/IP Communication in Action</a:t>
            </a:r>
            <a:endParaRPr lang="en-US" sz="800" dirty="0"/>
          </a:p>
        </p:txBody>
      </p:sp>
      <p:sp>
        <p:nvSpPr>
          <p:cNvPr id="5" name="Text 3"/>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707070"/>
                </a:solidFill>
                <a:latin typeface="Calibri" pitchFamily="34" charset="0"/>
                <a:ea typeface="Calibri" pitchFamily="34" charset="-122"/>
                <a:cs typeface="Calibri" pitchFamily="34" charset="-120"/>
              </a:rPr>
              <a:t>12</a:t>
            </a:r>
            <a:endParaRPr lang="en-US" sz="800" dirty="0"/>
          </a:p>
        </p:txBody>
      </p:sp>
      <p:sp>
        <p:nvSpPr>
          <p:cNvPr id="6" name="Text 4"/>
          <p:cNvSpPr txBox="1"/>
          <p:nvPr/>
        </p:nvSpPr>
        <p:spPr>
          <a:xfrm>
            <a:off x="548640" y="1005840"/>
            <a:ext cx="8046720" cy="31089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B2B"/>
                </a:solidFill>
                <a:latin typeface="Calibri" pitchFamily="34" charset="0"/>
                <a:ea typeface="Calibri" pitchFamily="34" charset="-122"/>
                <a:cs typeface="Calibri" pitchFamily="34" charset="-120"/>
              </a:rPr>
              <a:t>Opening x.com is a chain: ARP → DNS (UDP 53) → TCP handshake → TLS → HTTP, each step depending on the one before it.</a:t>
            </a:r>
            <a:endParaRPr lang="en-US" sz="1500" dirty="0"/>
          </a:p>
          <a:p>
            <a:pPr marL="342900" indent="-342900">
              <a:spcAft>
                <a:spcPts val="400"/>
              </a:spcAft>
              <a:buSzPct val="100000"/>
              <a:buChar char="•"/>
            </a:pPr>
            <a:r>
              <a:rPr lang="en-US" sz="1500" dirty="0">
                <a:solidFill>
                  <a:srgbClr val="2B2B2B"/>
                </a:solidFill>
                <a:latin typeface="Calibri" pitchFamily="34" charset="0"/>
                <a:ea typeface="Calibri" pitchFamily="34" charset="-122"/>
                <a:cs typeface="Calibri" pitchFamily="34" charset="-120"/>
              </a:rPr>
              <a:t>Each layer adds its own header: ports (TCP/UDP), IP addresses (end to end), MAC addresses (hop by hop).</a:t>
            </a:r>
            <a:endParaRPr lang="en-US" sz="1500" dirty="0"/>
          </a:p>
          <a:p>
            <a:pPr marL="342900" indent="-342900">
              <a:spcAft>
                <a:spcPts val="400"/>
              </a:spcAft>
              <a:buSzPct val="100000"/>
              <a:buChar char="•"/>
            </a:pPr>
            <a:r>
              <a:rPr lang="en-US" sz="1500" dirty="0">
                <a:solidFill>
                  <a:srgbClr val="2B2B2B"/>
                </a:solidFill>
                <a:latin typeface="Calibri" pitchFamily="34" charset="0"/>
                <a:ea typeface="Calibri" pitchFamily="34" charset="-122"/>
                <a:cs typeface="Calibri" pitchFamily="34" charset="-120"/>
              </a:rPr>
              <a:t>TCP gives reliability; UDP gives speed. One website visit uses both.</a:t>
            </a:r>
            <a:endParaRPr lang="en-US" sz="1500" dirty="0"/>
          </a:p>
          <a:p>
            <a:pPr marL="342900" indent="-342900">
              <a:spcAft>
                <a:spcPts val="400"/>
              </a:spcAft>
              <a:buSzPct val="100000"/>
              <a:buChar char="•"/>
            </a:pPr>
            <a:r>
              <a:rPr lang="en-US" sz="1500" dirty="0">
                <a:solidFill>
                  <a:srgbClr val="2B2B2B"/>
                </a:solidFill>
                <a:latin typeface="Calibri" pitchFamily="34" charset="0"/>
                <a:ea typeface="Calibri" pitchFamily="34" charset="-122"/>
                <a:cs typeface="Calibri" pitchFamily="34" charset="-120"/>
              </a:rPr>
              <a:t>A DNS fault can look like a total outage while IP and TCP are healthy. Test layer by layer, bottom-up.</a:t>
            </a:r>
            <a:endParaRPr lang="en-US" sz="1500" dirty="0"/>
          </a:p>
          <a:p>
            <a:pPr marL="342900" indent="-342900">
              <a:spcAft>
                <a:spcPts val="400"/>
              </a:spcAft>
              <a:buSzPct val="100000"/>
              <a:buChar char="•"/>
            </a:pPr>
            <a:r>
              <a:rPr lang="en-US" sz="1500" dirty="0">
                <a:solidFill>
                  <a:srgbClr val="2B2B2B"/>
                </a:solidFill>
                <a:latin typeface="Calibri" pitchFamily="34" charset="0"/>
                <a:ea typeface="Calibri" pitchFamily="34" charset="-122"/>
                <a:cs typeface="Calibri" pitchFamily="34" charset="-120"/>
              </a:rPr>
              <a:t>Every claim in this presentation is backed by packet evidence.</a:t>
            </a:r>
            <a:endParaRPr lang="en-US" sz="1500" dirty="0"/>
          </a:p>
        </p:txBody>
      </p:sp>
      <p:sp>
        <p:nvSpPr>
          <p:cNvPr id="7" name="Text 5"/>
          <p:cNvSpPr txBox="1"/>
          <p:nvPr/>
        </p:nvSpPr>
        <p:spPr>
          <a:xfrm>
            <a:off x="548640" y="4114800"/>
            <a:ext cx="8046720" cy="457200"/>
          </a:xfrm>
          <a:prstGeom prst="rect">
            <a:avLst/>
          </a:prstGeom>
          <a:noFill/>
          <a:ln/>
        </p:spPr>
        <p:txBody>
          <a:bodyPr wrap="square" lIns="0" tIns="0" rIns="0" bIns="0" rtlCol="0" anchor="t"/>
          <a:lstStyle/>
          <a:p>
            <a:pPr indent="0" marL="0">
              <a:buNone/>
            </a:pPr>
            <a:r>
              <a:rPr lang="en-US" sz="1600" b="1" dirty="0">
                <a:solidFill>
                  <a:srgbClr val="1D6FA5"/>
                </a:solidFill>
                <a:latin typeface="Calibri" pitchFamily="34" charset="0"/>
                <a:ea typeface="Calibri" pitchFamily="34" charset="-122"/>
                <a:cs typeface="Calibri" pitchFamily="34" charset="-120"/>
              </a:rPr>
              <a:t>Thank you. We are happy to take questions.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6675120" cy="502920"/>
          </a:xfrm>
          <a:prstGeom prst="rect">
            <a:avLst/>
          </a:prstGeom>
          <a:noFill/>
          <a:ln/>
        </p:spPr>
        <p:txBody>
          <a:bodyPr wrap="square" lIns="0" tIns="0" rIns="0" bIns="0" rtlCol="0" anchor="ctr"/>
          <a:lstStyle/>
          <a:p>
            <a:pPr indent="0" marL="0">
              <a:buNone/>
            </a:pPr>
            <a:r>
              <a:rPr lang="en-US" sz="2400" b="1" dirty="0">
                <a:solidFill>
                  <a:srgbClr val="0B2545"/>
                </a:solidFill>
                <a:latin typeface="Calibri" pitchFamily="34" charset="0"/>
                <a:ea typeface="Calibri" pitchFamily="34" charset="-122"/>
                <a:cs typeface="Calibri" pitchFamily="34" charset="-120"/>
              </a:rPr>
              <a:t>Team contribution record</a:t>
            </a:r>
            <a:endParaRPr lang="en-US" sz="2400" dirty="0"/>
          </a:p>
        </p:txBody>
      </p:sp>
      <p:sp>
        <p:nvSpPr>
          <p:cNvPr id="3" name="Text 1"/>
          <p:cNvSpPr txBox="1"/>
          <p:nvPr/>
        </p:nvSpPr>
        <p:spPr>
          <a:xfrm>
            <a:off x="6675120" y="274320"/>
            <a:ext cx="2011680" cy="411480"/>
          </a:xfrm>
          <a:prstGeom prst="rect">
            <a:avLst/>
          </a:prstGeom>
          <a:noFill/>
          <a:ln/>
        </p:spPr>
        <p:txBody>
          <a:bodyPr wrap="square" lIns="0" tIns="0" rIns="0" bIns="0" rtlCol="0" anchor="ctr"/>
          <a:lstStyle/>
          <a:p>
            <a:pPr algn="r" indent="0" marL="0">
              <a:buNone/>
            </a:pPr>
            <a:r>
              <a:rPr lang="en-US" sz="1000" dirty="0">
                <a:solidFill>
                  <a:srgbClr val="1D6FA5"/>
                </a:solidFill>
                <a:latin typeface="Calibri" pitchFamily="34" charset="0"/>
                <a:ea typeface="Calibri" pitchFamily="34" charset="-122"/>
                <a:cs typeface="Calibri" pitchFamily="34" charset="-120"/>
              </a:rPr>
              <a:t>TEAM-08</a:t>
            </a:r>
            <a:endParaRPr lang="en-US" sz="1000" dirty="0"/>
          </a:p>
        </p:txBody>
      </p:sp>
      <p:sp>
        <p:nvSpPr>
          <p:cNvPr id="4" name="Text 2"/>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800" dirty="0">
                <a:solidFill>
                  <a:srgbClr val="707070"/>
                </a:solidFill>
                <a:latin typeface="Calibri" pitchFamily="34" charset="0"/>
                <a:ea typeface="Calibri" pitchFamily="34" charset="-122"/>
                <a:cs typeface="Calibri" pitchFamily="34" charset="-120"/>
              </a:rPr>
              <a:t>TEAM-08  |  TCP/IP Communication in Action</a:t>
            </a:r>
            <a:endParaRPr lang="en-US" sz="800" dirty="0"/>
          </a:p>
        </p:txBody>
      </p:sp>
      <p:sp>
        <p:nvSpPr>
          <p:cNvPr id="5" name="Text 3"/>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707070"/>
                </a:solidFill>
                <a:latin typeface="Calibri" pitchFamily="34" charset="0"/>
                <a:ea typeface="Calibri" pitchFamily="34" charset="-122"/>
                <a:cs typeface="Calibri" pitchFamily="34" charset="-120"/>
              </a:rPr>
              <a:t>13</a:t>
            </a:r>
            <a:endParaRPr lang="en-US" sz="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2103120"/>
                <a:gridCol w="2011680"/>
                <a:gridCol w="411480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Member</a:t>
                      </a:r>
                      <a:endParaRPr lang="en-US" sz="11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solidFill>
                      <a:srgbClr val="1D6FA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solidFill>
                      <a:srgbClr val="1D6FA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Completed work</a:t>
                      </a:r>
                      <a:endParaRPr lang="en-US" sz="11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solidFill>
                      <a:srgbClr val="1D6FA5"/>
                    </a:solidFill>
                  </a:tcPr>
                </a:tc>
              </a:tr>
              <a:tr h="0">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Adeoti Suliat Adedamola</a:t>
                      </a:r>
                      <a:endParaRPr lang="en-US" sz="11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Team Lead</a:t>
                      </a:r>
                      <a:endParaRPr lang="en-US" sz="11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Introduction, conclusion, review, submission</a:t>
                      </a:r>
                      <a:endParaRPr lang="en-US" sz="11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Eyinade Adegoke</a:t>
                      </a:r>
                      <a:endParaRPr lang="en-US" sz="11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TCP/IP and OSI</a:t>
                      </a:r>
                      <a:endParaRPr lang="en-US" sz="11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TCP/IP layers, OSI model, mapping</a:t>
                      </a:r>
                      <a:endParaRPr lang="en-US" sz="11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Kenneth Ukata</a:t>
                      </a:r>
                      <a:endParaRPr lang="en-US" sz="11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Packet journey</a:t>
                      </a:r>
                      <a:endParaRPr lang="en-US" sz="11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Packet journey diagram, devices, encapsulation and decapsulation</a:t>
                      </a:r>
                      <a:endParaRPr lang="en-US" sz="11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Mustapha Abubakar</a:t>
                      </a:r>
                      <a:endParaRPr lang="en-US" sz="11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Protocols and addressing</a:t>
                      </a:r>
                      <a:endParaRPr lang="en-US" sz="11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Protocols, IP/MAC, ports, analysis table, 15-figure report, Wireshark capture, deck compilation</a:t>
                      </a:r>
                      <a:endParaRPr lang="en-US" sz="11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r h="0">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Samina Parveen</a:t>
                      </a:r>
                      <a:endParaRPr lang="en-US" sz="11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TCP vs UDP, troubleshooting</a:t>
                      </a:r>
                      <a:endParaRPr lang="en-US" sz="11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TCP vs UDP, examples, DNS failure, troubleshooting steps</a:t>
                      </a:r>
                      <a:endParaRPr lang="en-US" sz="1100" dirty="0">
                        <a:latin typeface="Calibri" charset="0"/>
                        <a:ea typeface="Calibri" charset="0"/>
                        <a:cs typeface="Calibri" charset="0"/>
                      </a:endParaRPr>
                    </a:p>
                  </a:txBody>
                  <a:tcPr marL="45720" marR="45720" marT="45720" marB="45720" anchor="ctr">
                    <a:lnL w="6350" cap="flat" cmpd="sng" algn="ctr">
                      <a:solidFill>
                        <a:srgbClr val="C9D6E2"/>
                      </a:solidFill>
                      <a:prstDash val="solid"/>
                      <a:round/>
                      <a:headEnd type="none" w="med" len="med"/>
                      <a:tailEnd type="none" w="med" len="med"/>
                    </a:lnL>
                    <a:lnR w="6350" cap="flat" cmpd="sng" algn="ctr">
                      <a:solidFill>
                        <a:srgbClr val="C9D6E2"/>
                      </a:solidFill>
                      <a:prstDash val="solid"/>
                      <a:round/>
                      <a:headEnd type="none" w="med" len="med"/>
                      <a:tailEnd type="none" w="med" len="med"/>
                    </a:lnR>
                    <a:lnT w="6350" cap="flat" cmpd="sng" algn="ctr">
                      <a:solidFill>
                        <a:srgbClr val="C9D6E2"/>
                      </a:solidFill>
                      <a:prstDash val="solid"/>
                      <a:round/>
                      <a:headEnd type="none" w="med" len="med"/>
                      <a:tailEnd type="none" w="med" len="med"/>
                    </a:lnT>
                    <a:lnB w="6350" cap="flat" cmpd="sng" algn="ctr">
                      <a:solidFill>
                        <a:srgbClr val="C9D6E2"/>
                      </a:solidFill>
                      <a:prstDash val="solid"/>
                      <a:round/>
                      <a:headEnd type="none" w="med" len="med"/>
                      <a:tailEnd type="none" w="med" len="med"/>
                    </a:lnB>
                  </a:tcPr>
                </a:tc>
              </a:tr>
            </a:tbl>
          </a:graphicData>
        </a:graphic>
      </p:graphicFrame>
      <p:sp>
        <p:nvSpPr>
          <p:cNvPr id="7" name="Text 4"/>
          <p:cNvSpPr txBox="1"/>
          <p:nvPr/>
        </p:nvSpPr>
        <p:spPr>
          <a:xfrm>
            <a:off x="457200" y="3566160"/>
            <a:ext cx="8229600" cy="274320"/>
          </a:xfrm>
          <a:prstGeom prst="rect">
            <a:avLst/>
          </a:prstGeom>
          <a:noFill/>
          <a:ln/>
        </p:spPr>
        <p:txBody>
          <a:bodyPr wrap="square" lIns="0" tIns="0" rIns="0" bIns="0" rtlCol="0" anchor="t"/>
          <a:lstStyle/>
          <a:p>
            <a:pPr indent="0" marL="0">
              <a:buNone/>
            </a:pPr>
            <a:r>
              <a:rPr lang="en-US" sz="1000" i="1" dirty="0">
                <a:solidFill>
                  <a:srgbClr val="2B2B2B"/>
                </a:solidFill>
                <a:latin typeface="Calibri" pitchFamily="34" charset="0"/>
                <a:ea typeface="Calibri" pitchFamily="34" charset="-122"/>
                <a:cs typeface="Calibri" pitchFamily="34" charset="-120"/>
              </a:rPr>
              <a:t>Each member's individual evidence link is recorded in their own contribution declaration on the portal.</a:t>
            </a:r>
            <a:endParaRPr lang="en-US" sz="1000" dirty="0"/>
          </a:p>
        </p:txBody>
      </p:sp>
      <p:sp>
        <p:nvSpPr>
          <p:cNvPr id="8" name="Text 5"/>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000" i="1" dirty="0">
                <a:solidFill>
                  <a:srgbClr val="2B2B2B"/>
                </a:solidFill>
                <a:latin typeface="Calibri" pitchFamily="34" charset="0"/>
                <a:ea typeface="Calibri" pitchFamily="34" charset="-122"/>
                <a:cs typeface="Calibri" pitchFamily="34" charset="-120"/>
              </a:rPr>
              <a:t>AI use declaration: Artificial intelligence tools were used by team members for drafting, design and compilation assistance. The team reviewed all content for accuracy and remains responsible for it.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6675120" cy="502920"/>
          </a:xfrm>
          <a:prstGeom prst="rect">
            <a:avLst/>
          </a:prstGeom>
          <a:noFill/>
          <a:ln/>
        </p:spPr>
        <p:txBody>
          <a:bodyPr wrap="square" lIns="0" tIns="0" rIns="0" bIns="0" rtlCol="0" anchor="ctr"/>
          <a:lstStyle/>
          <a:p>
            <a:pPr indent="0" marL="0">
              <a:buNone/>
            </a:pPr>
            <a:r>
              <a:rPr lang="en-US" sz="2400" b="1" dirty="0">
                <a:solidFill>
                  <a:srgbClr val="0B2545"/>
                </a:solidFill>
                <a:latin typeface="Calibri" pitchFamily="34" charset="0"/>
                <a:ea typeface="Calibri" pitchFamily="34" charset="-122"/>
                <a:cs typeface="Calibri" pitchFamily="34" charset="-120"/>
              </a:rPr>
              <a:t>References</a:t>
            </a:r>
            <a:endParaRPr lang="en-US" sz="2400" dirty="0"/>
          </a:p>
        </p:txBody>
      </p:sp>
      <p:sp>
        <p:nvSpPr>
          <p:cNvPr id="3" name="Text 1"/>
          <p:cNvSpPr txBox="1"/>
          <p:nvPr/>
        </p:nvSpPr>
        <p:spPr>
          <a:xfrm>
            <a:off x="6675120" y="274320"/>
            <a:ext cx="2011680" cy="411480"/>
          </a:xfrm>
          <a:prstGeom prst="rect">
            <a:avLst/>
          </a:prstGeom>
          <a:noFill/>
          <a:ln/>
        </p:spPr>
        <p:txBody>
          <a:bodyPr wrap="square" lIns="0" tIns="0" rIns="0" bIns="0" rtlCol="0" anchor="ctr"/>
          <a:lstStyle/>
          <a:p>
            <a:pPr algn="r" indent="0" marL="0">
              <a:buNone/>
            </a:pPr>
            <a:endParaRPr lang="en-US" sz="1000" dirty="0"/>
          </a:p>
        </p:txBody>
      </p:sp>
      <p:sp>
        <p:nvSpPr>
          <p:cNvPr id="4" name="Text 2"/>
          <p:cNvSpPr txBox="1"/>
          <p:nvPr/>
        </p:nvSpPr>
        <p:spPr>
          <a:xfrm>
            <a:off x="457200" y="4828032"/>
            <a:ext cx="7498080" cy="228600"/>
          </a:xfrm>
          <a:prstGeom prst="rect">
            <a:avLst/>
          </a:prstGeom>
          <a:noFill/>
          <a:ln/>
        </p:spPr>
        <p:txBody>
          <a:bodyPr wrap="square" lIns="0" tIns="0" rIns="0" bIns="0" rtlCol="0" anchor="ctr"/>
          <a:lstStyle/>
          <a:p>
            <a:pPr indent="0" marL="0">
              <a:buNone/>
            </a:pPr>
            <a:r>
              <a:rPr lang="en-US" sz="800" dirty="0">
                <a:solidFill>
                  <a:srgbClr val="707070"/>
                </a:solidFill>
                <a:latin typeface="Calibri" pitchFamily="34" charset="0"/>
                <a:ea typeface="Calibri" pitchFamily="34" charset="-122"/>
                <a:cs typeface="Calibri" pitchFamily="34" charset="-120"/>
              </a:rPr>
              <a:t>TEAM-08  |  TCP/IP Communication in Action</a:t>
            </a:r>
            <a:endParaRPr lang="en-US" sz="800" dirty="0"/>
          </a:p>
        </p:txBody>
      </p:sp>
      <p:sp>
        <p:nvSpPr>
          <p:cNvPr id="5" name="Text 3"/>
          <p:cNvSpPr txBox="1"/>
          <p:nvPr/>
        </p:nvSpPr>
        <p:spPr>
          <a:xfrm>
            <a:off x="8229600" y="4828032"/>
            <a:ext cx="457200" cy="228600"/>
          </a:xfrm>
          <a:prstGeom prst="rect">
            <a:avLst/>
          </a:prstGeom>
          <a:noFill/>
          <a:ln/>
        </p:spPr>
        <p:txBody>
          <a:bodyPr wrap="square" lIns="0" tIns="0" rIns="0" bIns="0" rtlCol="0" anchor="ctr"/>
          <a:lstStyle/>
          <a:p>
            <a:pPr algn="r" indent="0" marL="0">
              <a:buNone/>
            </a:pPr>
            <a:r>
              <a:rPr lang="en-US" sz="800" dirty="0">
                <a:solidFill>
                  <a:srgbClr val="707070"/>
                </a:solidFill>
                <a:latin typeface="Calibri" pitchFamily="34" charset="0"/>
                <a:ea typeface="Calibri" pitchFamily="34" charset="-122"/>
                <a:cs typeface="Calibri" pitchFamily="34" charset="-120"/>
              </a:rPr>
              <a:t>14</a:t>
            </a:r>
            <a:endParaRPr lang="en-US" sz="800" dirty="0"/>
          </a:p>
        </p:txBody>
      </p:sp>
      <p:sp>
        <p:nvSpPr>
          <p:cNvPr id="6" name="Text 4"/>
          <p:cNvSpPr txBox="1"/>
          <p:nvPr/>
        </p:nvSpPr>
        <p:spPr>
          <a:xfrm>
            <a:off x="548640" y="914400"/>
            <a:ext cx="8046720" cy="365760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300" dirty="0">
                <a:solidFill>
                  <a:srgbClr val="2B2B2B"/>
                </a:solidFill>
                <a:latin typeface="Calibri" pitchFamily="34" charset="0"/>
                <a:ea typeface="Calibri" pitchFamily="34" charset="-122"/>
                <a:cs typeface="Calibri" pitchFamily="34" charset="-120"/>
              </a:rPr>
              <a:t>IETF. RFC 9293: Transmission Control Protocol (TCP). rfc-editor.org/rfc/rfc9293</a:t>
            </a:r>
            <a:endParaRPr lang="en-US" sz="1300" dirty="0"/>
          </a:p>
          <a:p>
            <a:pPr marL="342900" indent="-342900">
              <a:spcAft>
                <a:spcPts val="800"/>
              </a:spcAft>
              <a:buSzPct val="100000"/>
              <a:buFont typeface="+mj-lt"/>
              <a:buAutoNum type="arabicPeriod" startAt="1"/>
            </a:pPr>
            <a:r>
              <a:rPr lang="en-US" sz="1300" dirty="0">
                <a:solidFill>
                  <a:srgbClr val="2B2B2B"/>
                </a:solidFill>
                <a:latin typeface="Calibri" pitchFamily="34" charset="0"/>
                <a:ea typeface="Calibri" pitchFamily="34" charset="-122"/>
                <a:cs typeface="Calibri" pitchFamily="34" charset="-120"/>
              </a:rPr>
              <a:t>IETF. RFC 768: User Datagram Protocol (UDP). rfc-editor.org/rfc/rfc768</a:t>
            </a:r>
            <a:endParaRPr lang="en-US" sz="1300" dirty="0"/>
          </a:p>
          <a:p>
            <a:pPr marL="342900" indent="-342900">
              <a:spcAft>
                <a:spcPts val="800"/>
              </a:spcAft>
              <a:buSzPct val="100000"/>
              <a:buFont typeface="+mj-lt"/>
              <a:buAutoNum type="arabicPeriod" startAt="1"/>
            </a:pPr>
            <a:r>
              <a:rPr lang="en-US" sz="1300" dirty="0">
                <a:solidFill>
                  <a:srgbClr val="2B2B2B"/>
                </a:solidFill>
                <a:latin typeface="Calibri" pitchFamily="34" charset="0"/>
                <a:ea typeface="Calibri" pitchFamily="34" charset="-122"/>
                <a:cs typeface="Calibri" pitchFamily="34" charset="-120"/>
              </a:rPr>
              <a:t>IETF. RFC 791: Internet Protocol (IPv4). rfc-editor.org/rfc/rfc791</a:t>
            </a:r>
            <a:endParaRPr lang="en-US" sz="1300" dirty="0"/>
          </a:p>
          <a:p>
            <a:pPr marL="342900" indent="-342900">
              <a:spcAft>
                <a:spcPts val="800"/>
              </a:spcAft>
              <a:buSzPct val="100000"/>
              <a:buFont typeface="+mj-lt"/>
              <a:buAutoNum type="arabicPeriod" startAt="1"/>
            </a:pPr>
            <a:r>
              <a:rPr lang="en-US" sz="1300" dirty="0">
                <a:solidFill>
                  <a:srgbClr val="2B2B2B"/>
                </a:solidFill>
                <a:latin typeface="Calibri" pitchFamily="34" charset="0"/>
                <a:ea typeface="Calibri" pitchFamily="34" charset="-122"/>
                <a:cs typeface="Calibri" pitchFamily="34" charset="-120"/>
              </a:rPr>
              <a:t>IETF. RFC 826: Address Resolution Protocol (ARP). rfc-editor.org/rfc/rfc826</a:t>
            </a:r>
            <a:endParaRPr lang="en-US" sz="1300" dirty="0"/>
          </a:p>
          <a:p>
            <a:pPr marL="342900" indent="-342900">
              <a:spcAft>
                <a:spcPts val="800"/>
              </a:spcAft>
              <a:buSzPct val="100000"/>
              <a:buFont typeface="+mj-lt"/>
              <a:buAutoNum type="arabicPeriod" startAt="1"/>
            </a:pPr>
            <a:r>
              <a:rPr lang="en-US" sz="1300" dirty="0">
                <a:solidFill>
                  <a:srgbClr val="2B2B2B"/>
                </a:solidFill>
                <a:latin typeface="Calibri" pitchFamily="34" charset="0"/>
                <a:ea typeface="Calibri" pitchFamily="34" charset="-122"/>
                <a:cs typeface="Calibri" pitchFamily="34" charset="-120"/>
              </a:rPr>
              <a:t>IETF. RFC 1035: Domain Names, Implementation and Specification. rfc-editor.org/rfc/rfc1035</a:t>
            </a:r>
            <a:endParaRPr lang="en-US" sz="1300" dirty="0"/>
          </a:p>
          <a:p>
            <a:pPr marL="342900" indent="-342900">
              <a:spcAft>
                <a:spcPts val="800"/>
              </a:spcAft>
              <a:buSzPct val="100000"/>
              <a:buFont typeface="+mj-lt"/>
              <a:buAutoNum type="arabicPeriod" startAt="1"/>
            </a:pPr>
            <a:r>
              <a:rPr lang="en-US" sz="1300" dirty="0">
                <a:solidFill>
                  <a:srgbClr val="2B2B2B"/>
                </a:solidFill>
                <a:latin typeface="Calibri" pitchFamily="34" charset="0"/>
                <a:ea typeface="Calibri" pitchFamily="34" charset="-122"/>
                <a:cs typeface="Calibri" pitchFamily="34" charset="-120"/>
              </a:rPr>
              <a:t>IETF. RFC 8446: TLS Version 1.3. rfc-editor.org/rfc/rfc8446</a:t>
            </a:r>
            <a:endParaRPr lang="en-US" sz="1300" dirty="0"/>
          </a:p>
          <a:p>
            <a:pPr marL="342900" indent="-342900">
              <a:spcAft>
                <a:spcPts val="800"/>
              </a:spcAft>
              <a:buSzPct val="100000"/>
              <a:buFont typeface="+mj-lt"/>
              <a:buAutoNum type="arabicPeriod" startAt="1"/>
            </a:pPr>
            <a:r>
              <a:rPr lang="en-US" sz="1300" dirty="0">
                <a:solidFill>
                  <a:srgbClr val="2B2B2B"/>
                </a:solidFill>
                <a:latin typeface="Calibri" pitchFamily="34" charset="0"/>
                <a:ea typeface="Calibri" pitchFamily="34" charset="-122"/>
                <a:cs typeface="Calibri" pitchFamily="34" charset="-120"/>
              </a:rPr>
              <a:t>Cisco Networking Academy. Introduction to Networks (CCNA). netacad.com</a:t>
            </a:r>
            <a:endParaRPr lang="en-US" sz="1300" dirty="0"/>
          </a:p>
          <a:p>
            <a:pPr marL="342900" indent="-342900">
              <a:spcAft>
                <a:spcPts val="800"/>
              </a:spcAft>
              <a:buSzPct val="100000"/>
              <a:buFont typeface="+mj-lt"/>
              <a:buAutoNum type="arabicPeriod" startAt="1"/>
            </a:pPr>
            <a:r>
              <a:rPr lang="en-US" sz="1300" dirty="0">
                <a:solidFill>
                  <a:srgbClr val="2B2B2B"/>
                </a:solidFill>
                <a:latin typeface="Calibri" pitchFamily="34" charset="0"/>
                <a:ea typeface="Calibri" pitchFamily="34" charset="-122"/>
                <a:cs typeface="Calibri" pitchFamily="34" charset="-120"/>
              </a:rPr>
              <a:t>Wireshark Foundation. Wireshark User's Guide. wireshark.org/docs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TEAM-08 TCP/IP Communication in Action</dc:title>
  <dc:subject>PptxGenJS Presentation</dc:subject>
  <dc:creator>PptxGenJS</dc:creator>
  <cp:lastModifiedBy>PptxGenJS</cp:lastModifiedBy>
  <cp:revision>1</cp:revision>
  <dcterms:created xsi:type="dcterms:W3CDTF">2026-10-02T11:32:46Z</dcterms:created>
  <dcterms:modified xsi:type="dcterms:W3CDTF">2026-10-02T11:32:46Z</dcterms:modified>
</cp:coreProperties>
</file>